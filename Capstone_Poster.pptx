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56" r:id="rId2"/>
  </p:sldIdLst>
  <p:sldSz cx="43891200" cy="32918400"/>
  <p:notesSz cx="6858000" cy="9144000"/>
  <p:embeddedFontLst>
    <p:embeddedFont>
      <p:font typeface="Tahoma" panose="020B0604030504040204" pitchFamily="34" charset="0"/>
      <p:regular r:id="rId4"/>
      <p:bold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746A"/>
    <a:srgbClr val="CCDECA"/>
    <a:srgbClr val="BACAB9"/>
    <a:srgbClr val="E5F9E3"/>
    <a:srgbClr val="E4F7E2"/>
    <a:srgbClr val="729079"/>
    <a:srgbClr val="84A88C"/>
    <a:srgbClr val="95A844"/>
    <a:srgbClr val="D6E8D5"/>
    <a:srgbClr val="FC1D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934" autoAdjust="0"/>
    <p:restoredTop sz="94645"/>
  </p:normalViewPr>
  <p:slideViewPr>
    <p:cSldViewPr snapToGrid="0">
      <p:cViewPr varScale="1">
        <p:scale>
          <a:sx n="21" d="100"/>
          <a:sy n="21" d="100"/>
        </p:scale>
        <p:origin x="1836" y="6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79"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8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BD72-E657-8519-A51E-760DA9DEAC8C}"/>
              </a:ext>
            </a:extLst>
          </p:cNvPr>
          <p:cNvSpPr>
            <a:spLocks noGrp="1"/>
          </p:cNvSpPr>
          <p:nvPr>
            <p:ph type="ctrTitle"/>
          </p:nvPr>
        </p:nvSpPr>
        <p:spPr>
          <a:xfrm>
            <a:off x="5486400" y="5387342"/>
            <a:ext cx="32918400" cy="11460480"/>
          </a:xfrm>
        </p:spPr>
        <p:txBody>
          <a:bodyPr anchor="b"/>
          <a:lstStyle>
            <a:lvl1pPr algn="ctr">
              <a:defRPr sz="21600"/>
            </a:lvl1pPr>
          </a:lstStyle>
          <a:p>
            <a:r>
              <a:rPr lang="en-US"/>
              <a:t>Click to edit Master title style</a:t>
            </a:r>
          </a:p>
        </p:txBody>
      </p:sp>
      <p:sp>
        <p:nvSpPr>
          <p:cNvPr id="3" name="Subtitle 2">
            <a:extLst>
              <a:ext uri="{FF2B5EF4-FFF2-40B4-BE49-F238E27FC236}">
                <a16:creationId xmlns:a16="http://schemas.microsoft.com/office/drawing/2014/main" id="{3BF8B7BC-686F-90A5-BDAE-DC4E4796A64E}"/>
              </a:ext>
            </a:extLst>
          </p:cNvPr>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a:extLst>
              <a:ext uri="{FF2B5EF4-FFF2-40B4-BE49-F238E27FC236}">
                <a16:creationId xmlns:a16="http://schemas.microsoft.com/office/drawing/2014/main" id="{AFD9EAAD-CE37-F159-2B48-49FBB1F6576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363D806-403D-89A3-F2F4-4521C5B31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065C1-0B96-6AB8-321F-0E1E8448B9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6023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CA36-D091-E23C-718B-8570F81FBD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35C2E3-0379-B042-466D-0C31B7424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E80B-584D-C82A-524E-7FF05DC1224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B0D4D40-1CC3-A9C8-3742-9AC6129E9D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6C931-ABEC-E98A-C17A-D371C3A5AF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5643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59478-03EA-2495-2D3B-DF962EF29DAB}"/>
              </a:ext>
            </a:extLst>
          </p:cNvPr>
          <p:cNvSpPr>
            <a:spLocks noGrp="1"/>
          </p:cNvSpPr>
          <p:nvPr>
            <p:ph type="title"/>
          </p:nvPr>
        </p:nvSpPr>
        <p:spPr>
          <a:xfrm>
            <a:off x="2994660" y="8206745"/>
            <a:ext cx="37856160" cy="13693138"/>
          </a:xfrm>
        </p:spPr>
        <p:txBody>
          <a:bodyPr anchor="b"/>
          <a:lstStyle>
            <a:lvl1pPr>
              <a:defRPr sz="21600"/>
            </a:lvl1pPr>
          </a:lstStyle>
          <a:p>
            <a:r>
              <a:rPr lang="en-US"/>
              <a:t>Click to edit Master title style</a:t>
            </a:r>
          </a:p>
        </p:txBody>
      </p:sp>
      <p:sp>
        <p:nvSpPr>
          <p:cNvPr id="3" name="Text Placeholder 2">
            <a:extLst>
              <a:ext uri="{FF2B5EF4-FFF2-40B4-BE49-F238E27FC236}">
                <a16:creationId xmlns:a16="http://schemas.microsoft.com/office/drawing/2014/main" id="{2933E7EA-D17C-261F-5B32-B879A8DAC5AB}"/>
              </a:ext>
            </a:extLst>
          </p:cNvPr>
          <p:cNvSpPr>
            <a:spLocks noGrp="1"/>
          </p:cNvSpPr>
          <p:nvPr>
            <p:ph type="body" idx="1"/>
          </p:nvPr>
        </p:nvSpPr>
        <p:spPr>
          <a:xfrm>
            <a:off x="2994660" y="22029425"/>
            <a:ext cx="37856160" cy="7200898"/>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E4EB8E-ECAB-6FF5-D296-8C84E0083F6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A2A2DCD-4A04-8477-995F-88EC38F05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16914F-57B5-1114-19E3-03F62C26135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85561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4AE64-5F78-B12B-D983-78A4795757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B4FE8F-7DBC-172C-A61C-E258E32CCD96}"/>
              </a:ext>
            </a:extLst>
          </p:cNvPr>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B6DD8B-EBBF-5B45-A876-CF4F1346D979}"/>
              </a:ext>
            </a:extLst>
          </p:cNvPr>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2FFBFC-4C3F-E7BE-D3AE-38EFA74F131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3B58C26-1322-D137-61C3-A44E1E6DD1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E0266-0A17-8A62-FF90-6288D4851D9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67060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5415-3A0F-0343-FF50-775DA9D300A4}"/>
              </a:ext>
            </a:extLst>
          </p:cNvPr>
          <p:cNvSpPr>
            <a:spLocks noGrp="1"/>
          </p:cNvSpPr>
          <p:nvPr>
            <p:ph type="title"/>
          </p:nvPr>
        </p:nvSpPr>
        <p:spPr>
          <a:xfrm>
            <a:off x="3023237" y="1752603"/>
            <a:ext cx="37856160" cy="6362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1F1168-49E9-D9CD-3BFB-26D15CB0EAC7}"/>
              </a:ext>
            </a:extLst>
          </p:cNvPr>
          <p:cNvSpPr>
            <a:spLocks noGrp="1"/>
          </p:cNvSpPr>
          <p:nvPr>
            <p:ph type="body" idx="1"/>
          </p:nvPr>
        </p:nvSpPr>
        <p:spPr>
          <a:xfrm>
            <a:off x="3023239" y="8069582"/>
            <a:ext cx="18568033"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a:extLst>
              <a:ext uri="{FF2B5EF4-FFF2-40B4-BE49-F238E27FC236}">
                <a16:creationId xmlns:a16="http://schemas.microsoft.com/office/drawing/2014/main" id="{2C64DD41-23C2-32ED-6773-71AAA8FCB742}"/>
              </a:ext>
            </a:extLst>
          </p:cNvPr>
          <p:cNvSpPr>
            <a:spLocks noGrp="1"/>
          </p:cNvSpPr>
          <p:nvPr>
            <p:ph sz="half" idx="2"/>
          </p:nvPr>
        </p:nvSpPr>
        <p:spPr>
          <a:xfrm>
            <a:off x="3023239" y="12024360"/>
            <a:ext cx="18568033"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BDF95F-90C9-09E9-A4E7-F58E2E375E58}"/>
              </a:ext>
            </a:extLst>
          </p:cNvPr>
          <p:cNvSpPr>
            <a:spLocks noGrp="1"/>
          </p:cNvSpPr>
          <p:nvPr>
            <p:ph type="body" sz="quarter" idx="3"/>
          </p:nvPr>
        </p:nvSpPr>
        <p:spPr>
          <a:xfrm>
            <a:off x="22219920" y="8069582"/>
            <a:ext cx="18659477"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a:extLst>
              <a:ext uri="{FF2B5EF4-FFF2-40B4-BE49-F238E27FC236}">
                <a16:creationId xmlns:a16="http://schemas.microsoft.com/office/drawing/2014/main" id="{5E5F0EE5-2082-4F19-5B63-8BFE8C8D5A37}"/>
              </a:ext>
            </a:extLst>
          </p:cNvPr>
          <p:cNvSpPr>
            <a:spLocks noGrp="1"/>
          </p:cNvSpPr>
          <p:nvPr>
            <p:ph sz="quarter" idx="4"/>
          </p:nvPr>
        </p:nvSpPr>
        <p:spPr>
          <a:xfrm>
            <a:off x="22219920"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F79CD7-9850-5D9F-FC3D-922E90C6299B}"/>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2DA9891A-8C8D-BEAA-4F38-C42FF53964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CAEF47-3EF6-D161-6EBB-7FB36AF74F5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65764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BE56-8B64-0D0C-6951-BBD606F342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01BCB0-C068-F580-5CB2-07F3DE379866}"/>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DEDAE33-3381-4977-3CD9-AB1DEA2F1F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3105EE-CC0A-067D-BD8C-1E3EFB1C873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11875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3F4B20-9300-53ED-EDF7-3B4CDAF5A07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59AB458-6F1C-CB5B-17A3-FEFAC7330C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4D3B75-FAC5-51D8-4468-9E3C8DDC90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6996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620C-D741-AE8F-040F-13387146126D}"/>
              </a:ext>
            </a:extLst>
          </p:cNvPr>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p>
        </p:txBody>
      </p:sp>
      <p:sp>
        <p:nvSpPr>
          <p:cNvPr id="3" name="Content Placeholder 2">
            <a:extLst>
              <a:ext uri="{FF2B5EF4-FFF2-40B4-BE49-F238E27FC236}">
                <a16:creationId xmlns:a16="http://schemas.microsoft.com/office/drawing/2014/main" id="{8AC9739D-A907-F8B4-F8B2-ECA986FD8B2E}"/>
              </a:ext>
            </a:extLst>
          </p:cNvPr>
          <p:cNvSpPr>
            <a:spLocks noGrp="1"/>
          </p:cNvSpPr>
          <p:nvPr>
            <p:ph idx="1"/>
          </p:nvPr>
        </p:nvSpPr>
        <p:spPr>
          <a:xfrm>
            <a:off x="18659477" y="4739642"/>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A0F9F7-EE92-26E9-0919-88B71DECF0E8}"/>
              </a:ext>
            </a:extLst>
          </p:cNvPr>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04A39DDC-0E31-22D3-FC32-AA64A76C8D5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15EC7C8-1133-3F2B-337B-4D0D69EA1D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06D34-E102-0398-24A5-6CF0CA2DAD0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42871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4CDF0-BC0F-B95B-044D-2F3141A3554B}"/>
              </a:ext>
            </a:extLst>
          </p:cNvPr>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p>
        </p:txBody>
      </p:sp>
      <p:sp>
        <p:nvSpPr>
          <p:cNvPr id="3" name="Picture Placeholder 2">
            <a:extLst>
              <a:ext uri="{FF2B5EF4-FFF2-40B4-BE49-F238E27FC236}">
                <a16:creationId xmlns:a16="http://schemas.microsoft.com/office/drawing/2014/main" id="{1A026CEB-3E14-B156-FAA0-C424EF000BA9}"/>
              </a:ext>
            </a:extLst>
          </p:cNvPr>
          <p:cNvSpPr>
            <a:spLocks noGrp="1"/>
          </p:cNvSpPr>
          <p:nvPr>
            <p:ph type="pic" idx="1"/>
          </p:nvPr>
        </p:nvSpPr>
        <p:spPr>
          <a:xfrm>
            <a:off x="18659477" y="4739642"/>
            <a:ext cx="22219920" cy="23393400"/>
          </a:xfrm>
        </p:spPr>
        <p:txBody>
          <a:bodyPr/>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endParaRPr lang="en-US"/>
          </a:p>
        </p:txBody>
      </p:sp>
      <p:sp>
        <p:nvSpPr>
          <p:cNvPr id="4" name="Text Placeholder 3">
            <a:extLst>
              <a:ext uri="{FF2B5EF4-FFF2-40B4-BE49-F238E27FC236}">
                <a16:creationId xmlns:a16="http://schemas.microsoft.com/office/drawing/2014/main" id="{F767218B-ACEA-8397-DC6D-E332286C4656}"/>
              </a:ext>
            </a:extLst>
          </p:cNvPr>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a:extLst>
              <a:ext uri="{FF2B5EF4-FFF2-40B4-BE49-F238E27FC236}">
                <a16:creationId xmlns:a16="http://schemas.microsoft.com/office/drawing/2014/main" id="{B3052443-CB1C-C2E1-FA40-BED8DE53DE5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99E7AFE-68A3-B6D8-C94D-60C155532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910BAD-7E4C-0072-B2DB-FCE2376BC2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548966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70510-5249-B147-095C-0B918CC71A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A8318A-D196-4DB0-8F8B-7EE2D43A2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F7866-8D72-E7C2-B36E-183489D208D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3A97FD-7BD4-7ED9-F272-5AB8D5901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E55FE-1167-F048-A0D6-0F6E001C64E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0386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D249DF-ADF9-D74B-B451-8BAA5CEAA036}"/>
              </a:ext>
            </a:extLst>
          </p:cNvPr>
          <p:cNvSpPr>
            <a:spLocks noGrp="1"/>
          </p:cNvSpPr>
          <p:nvPr>
            <p:ph type="title" orient="vert"/>
          </p:nvPr>
        </p:nvSpPr>
        <p:spPr>
          <a:xfrm>
            <a:off x="31409640" y="1752600"/>
            <a:ext cx="9464040" cy="2789682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DDA0CA-80B8-C1AC-26DD-995A71AB7DB9}"/>
              </a:ext>
            </a:extLst>
          </p:cNvPr>
          <p:cNvSpPr>
            <a:spLocks noGrp="1"/>
          </p:cNvSpPr>
          <p:nvPr>
            <p:ph type="body" orient="vert" idx="1"/>
          </p:nvPr>
        </p:nvSpPr>
        <p:spPr>
          <a:xfrm>
            <a:off x="3017520"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5F3AD-FE23-2CDC-9ECE-5B27F60BD7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340C16-880A-F656-DDC7-A4927CE34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6880E9-7071-BB1E-06B4-C6D8E72567C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133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94F68-8A91-BAD9-5FAD-19C18AD89A0E}"/>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87D6C5-F509-FEEA-E4AF-87FBD0CFDBAF}"/>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0FEE1-CB0E-2EEE-0F3F-32F1D0B35C4C}"/>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23024FB-061C-BC09-6FA8-9D3D13AD9620}"/>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9C59BC9-1B9D-4255-46FF-B2E9A520F98C}"/>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7571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35" name="Rounded Rectangle 34">
            <a:extLst>
              <a:ext uri="{FF2B5EF4-FFF2-40B4-BE49-F238E27FC236}">
                <a16:creationId xmlns:a16="http://schemas.microsoft.com/office/drawing/2014/main" id="{E9B528F2-D1F5-4FE2-526A-B2B3AD55875D}"/>
              </a:ext>
            </a:extLst>
          </p:cNvPr>
          <p:cNvSpPr/>
          <p:nvPr/>
        </p:nvSpPr>
        <p:spPr>
          <a:xfrm>
            <a:off x="15149225" y="7537773"/>
            <a:ext cx="13583099" cy="2153955"/>
          </a:xfrm>
          <a:prstGeom prst="roundRect">
            <a:avLst/>
          </a:prstGeom>
          <a:solidFill>
            <a:srgbClr val="BACAB9">
              <a:alpha val="236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650" b="1" dirty="0">
                <a:solidFill>
                  <a:schemeClr val="tx1"/>
                </a:solidFill>
                <a:latin typeface="Times New Roman" panose="02020603050405020304" pitchFamily="18" charset="0"/>
                <a:cs typeface="Times New Roman" panose="02020603050405020304" pitchFamily="18" charset="0"/>
              </a:rPr>
              <a:t>Stage 1</a:t>
            </a:r>
          </a:p>
          <a:p>
            <a:pPr algn="ctr"/>
            <a:r>
              <a:rPr lang="en-IN" sz="2650" b="1" dirty="0">
                <a:solidFill>
                  <a:schemeClr val="tx1"/>
                </a:solidFill>
                <a:latin typeface="Times New Roman" panose="02020603050405020304" pitchFamily="18" charset="0"/>
                <a:cs typeface="Times New Roman" panose="02020603050405020304" pitchFamily="18" charset="0"/>
              </a:rPr>
              <a:t> FAISS Retrieval (~3ms)</a:t>
            </a:r>
          </a:p>
          <a:p>
            <a:pPr algn="ctr"/>
            <a:r>
              <a:rPr lang="en-IN" sz="2650" dirty="0">
                <a:solidFill>
                  <a:schemeClr val="tx1"/>
                </a:solidFill>
                <a:latin typeface="Times New Roman" panose="02020603050405020304" pitchFamily="18" charset="0"/>
                <a:cs typeface="Times New Roman" panose="02020603050405020304" pitchFamily="18" charset="0"/>
              </a:rPr>
              <a:t>The user query is encoded into a 384-dim vector and searched against all 498,644 question vectors using FAISS </a:t>
            </a:r>
            <a:r>
              <a:rPr lang="en-IN" sz="2650" dirty="0" err="1">
                <a:solidFill>
                  <a:schemeClr val="tx1"/>
                </a:solidFill>
                <a:latin typeface="Times New Roman" panose="02020603050405020304" pitchFamily="18" charset="0"/>
                <a:cs typeface="Times New Roman" panose="02020603050405020304" pitchFamily="18" charset="0"/>
              </a:rPr>
              <a:t>IndexFlatIP</a:t>
            </a:r>
            <a:r>
              <a:rPr lang="en-IN" sz="2650" dirty="0">
                <a:solidFill>
                  <a:schemeClr val="tx1"/>
                </a:solidFill>
                <a:latin typeface="Times New Roman" panose="02020603050405020304" pitchFamily="18" charset="0"/>
                <a:cs typeface="Times New Roman" panose="02020603050405020304" pitchFamily="18" charset="0"/>
              </a:rPr>
              <a:t> (brute-force cosine similarity via normalized inner product). Returns top 50 candidates.</a:t>
            </a:r>
          </a:p>
        </p:txBody>
      </p:sp>
      <p:sp>
        <p:nvSpPr>
          <p:cNvPr id="89" name="Google Shape;89;p13"/>
          <p:cNvSpPr/>
          <p:nvPr/>
        </p:nvSpPr>
        <p:spPr>
          <a:xfrm>
            <a:off x="1094425" y="6659350"/>
            <a:ext cx="13776900" cy="25801800"/>
          </a:xfrm>
          <a:prstGeom prst="rect">
            <a:avLst/>
          </a:prstGeom>
          <a:noFill/>
          <a:ln w="38100" cap="flat" cmpd="sng">
            <a:solidFill>
              <a:srgbClr val="E21729"/>
            </a:solidFill>
            <a:prstDash val="solid"/>
            <a:round/>
            <a:headEnd type="none" w="sm" len="sm"/>
            <a:tailEnd type="none" w="sm" len="sm"/>
          </a:ln>
        </p:spPr>
        <p:txBody>
          <a:bodyPr spcFirstLastPara="1" wrap="square" lIns="162550" tIns="81275" rIns="162550" bIns="81275" anchor="t" anchorCtr="0">
            <a:noAutofit/>
          </a:bodyPr>
          <a:lstStyle/>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667">
              <a:solidFill>
                <a:schemeClr val="dk1"/>
              </a:solidFill>
              <a:latin typeface="Times New Roman"/>
              <a:ea typeface="Times New Roman"/>
              <a:cs typeface="Times New Roman"/>
              <a:sym typeface="Times New Roman"/>
            </a:endParaRPr>
          </a:p>
        </p:txBody>
      </p:sp>
      <p:sp>
        <p:nvSpPr>
          <p:cNvPr id="90" name="Google Shape;90;p13"/>
          <p:cNvSpPr/>
          <p:nvPr/>
        </p:nvSpPr>
        <p:spPr>
          <a:xfrm>
            <a:off x="1083732" y="1143000"/>
            <a:ext cx="41723735" cy="4064000"/>
          </a:xfrm>
          <a:prstGeom prst="snip2DiagRect">
            <a:avLst>
              <a:gd name="adj1" fmla="val 0"/>
              <a:gd name="adj2" fmla="val 16667"/>
            </a:avLst>
          </a:prstGeom>
          <a:solidFill>
            <a:srgbClr val="F8F8F8"/>
          </a:solidFill>
          <a:ln w="38100" cap="flat" cmpd="sng">
            <a:solidFill>
              <a:srgbClr val="E217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endParaRPr sz="7733">
              <a:solidFill>
                <a:schemeClr val="dk1"/>
              </a:solidFill>
              <a:latin typeface="Tahoma"/>
              <a:ea typeface="Tahoma"/>
              <a:cs typeface="Tahoma"/>
              <a:sym typeface="Tahoma"/>
            </a:endParaRPr>
          </a:p>
        </p:txBody>
      </p:sp>
      <p:sp>
        <p:nvSpPr>
          <p:cNvPr id="91" name="Google Shape;91;p13"/>
          <p:cNvSpPr/>
          <p:nvPr/>
        </p:nvSpPr>
        <p:spPr>
          <a:xfrm>
            <a:off x="29028500" y="5786525"/>
            <a:ext cx="13776900" cy="26674500"/>
          </a:xfrm>
          <a:prstGeom prst="rect">
            <a:avLst/>
          </a:prstGeom>
          <a:noFill/>
          <a:ln w="38100" cap="flat" cmpd="sng">
            <a:solidFill>
              <a:srgbClr val="E21729"/>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endParaRPr sz="4533">
              <a:solidFill>
                <a:schemeClr val="dk1"/>
              </a:solidFill>
              <a:latin typeface="Tahoma"/>
              <a:ea typeface="Tahoma"/>
              <a:cs typeface="Tahoma"/>
              <a:sym typeface="Tahoma"/>
            </a:endParaRPr>
          </a:p>
          <a:p>
            <a:pPr marL="0" marR="0" lvl="0" indent="0" algn="ctr" rtl="0">
              <a:spcBef>
                <a:spcPts val="0"/>
              </a:spcBef>
              <a:spcAft>
                <a:spcPts val="0"/>
              </a:spcAft>
              <a:buNone/>
            </a:pPr>
            <a:endParaRPr sz="32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l="1" t="13074" r="-1383" b="10492"/>
          <a:stretch/>
        </p:blipFill>
        <p:spPr>
          <a:xfrm>
            <a:off x="2055476" y="1326766"/>
            <a:ext cx="3502220" cy="3696468"/>
          </a:xfrm>
          <a:prstGeom prst="rect">
            <a:avLst/>
          </a:prstGeom>
          <a:noFill/>
          <a:ln>
            <a:noFill/>
          </a:ln>
        </p:spPr>
      </p:pic>
      <p:sp>
        <p:nvSpPr>
          <p:cNvPr id="93" name="Google Shape;93;p13"/>
          <p:cNvSpPr/>
          <p:nvPr/>
        </p:nvSpPr>
        <p:spPr>
          <a:xfrm>
            <a:off x="15046475" y="5786525"/>
            <a:ext cx="13776900" cy="26674500"/>
          </a:xfrm>
          <a:prstGeom prst="rect">
            <a:avLst/>
          </a:prstGeom>
          <a:noFill/>
          <a:ln w="38100" cap="flat" cmpd="sng">
            <a:solidFill>
              <a:srgbClr val="E21729"/>
            </a:solidFill>
            <a:prstDash val="solid"/>
            <a:round/>
            <a:headEnd type="none" w="sm" len="sm"/>
            <a:tailEnd type="none" w="sm" len="sm"/>
          </a:ln>
        </p:spPr>
        <p:txBody>
          <a:bodyPr spcFirstLastPara="1" wrap="square" lIns="162550" tIns="81275" rIns="162550" bIns="81275" anchor="t" anchorCtr="0">
            <a:noAutofit/>
          </a:bodyPr>
          <a:lstStyle/>
          <a:p>
            <a:pPr marL="0" marR="0" lvl="0" indent="0" algn="just" rtl="0">
              <a:spcBef>
                <a:spcPts val="0"/>
              </a:spcBef>
              <a:spcAft>
                <a:spcPts val="0"/>
              </a:spcAft>
              <a:buNone/>
            </a:pPr>
            <a:endParaRPr sz="2311">
              <a:solidFill>
                <a:schemeClr val="dk1"/>
              </a:solidFill>
              <a:latin typeface="Times New Roman"/>
              <a:ea typeface="Times New Roman"/>
              <a:cs typeface="Times New Roman"/>
              <a:sym typeface="Times New Roman"/>
            </a:endParaRPr>
          </a:p>
        </p:txBody>
      </p:sp>
      <p:sp>
        <p:nvSpPr>
          <p:cNvPr id="94" name="Google Shape;94;p13"/>
          <p:cNvSpPr txBox="1"/>
          <p:nvPr/>
        </p:nvSpPr>
        <p:spPr>
          <a:xfrm>
            <a:off x="6516087" y="1523989"/>
            <a:ext cx="30818400" cy="3538301"/>
          </a:xfrm>
          <a:prstGeom prst="rect">
            <a:avLst/>
          </a:prstGeom>
          <a:noFill/>
          <a:ln>
            <a:noFill/>
          </a:ln>
        </p:spPr>
        <p:txBody>
          <a:bodyPr spcFirstLastPara="1" wrap="square" lIns="91425" tIns="45700" rIns="91425" bIns="45700" anchor="t" anchorCtr="0">
            <a:spAutoFit/>
          </a:bodyPr>
          <a:lstStyle/>
          <a:p>
            <a:pPr algn="ctr"/>
            <a:r>
              <a:rPr lang="en-IN" sz="5330" b="1" dirty="0">
                <a:latin typeface="Times New Roman" panose="02020603050405020304" pitchFamily="18" charset="0"/>
                <a:cs typeface="Times New Roman" panose="02020603050405020304" pitchFamily="18" charset="0"/>
              </a:rPr>
              <a:t>SEMANTIC SEARCH AND CONTENT-BASED PERSONALIZATION FOR STACK OVERFLOW QUESTION RECOMMENDATION</a:t>
            </a:r>
            <a:endParaRPr lang="en-IN" sz="5330"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US" sz="4267" b="1" i="1" dirty="0" err="1">
                <a:solidFill>
                  <a:srgbClr val="CE1727"/>
                </a:solidFill>
                <a:latin typeface="Times New Roman"/>
                <a:ea typeface="Times New Roman"/>
                <a:cs typeface="Times New Roman"/>
                <a:sym typeface="Times New Roman"/>
              </a:rPr>
              <a:t>Sharmendra</a:t>
            </a:r>
            <a:r>
              <a:rPr lang="en-US" sz="4267" b="1" i="1" dirty="0">
                <a:solidFill>
                  <a:srgbClr val="CE1727"/>
                </a:solidFill>
                <a:latin typeface="Times New Roman"/>
                <a:ea typeface="Times New Roman"/>
                <a:cs typeface="Times New Roman"/>
                <a:sym typeface="Times New Roman"/>
              </a:rPr>
              <a:t> </a:t>
            </a:r>
            <a:r>
              <a:rPr lang="en-US" sz="4267" b="1" i="1" dirty="0" err="1">
                <a:solidFill>
                  <a:srgbClr val="CE1727"/>
                </a:solidFill>
                <a:latin typeface="Times New Roman"/>
                <a:ea typeface="Times New Roman"/>
                <a:cs typeface="Times New Roman"/>
                <a:sym typeface="Times New Roman"/>
              </a:rPr>
              <a:t>Desiboyina</a:t>
            </a:r>
            <a:r>
              <a:rPr lang="en-US" sz="4267" b="1" i="1" dirty="0">
                <a:solidFill>
                  <a:srgbClr val="CE1727"/>
                </a:solidFill>
                <a:latin typeface="Times New Roman"/>
                <a:ea typeface="Times New Roman"/>
                <a:cs typeface="Times New Roman"/>
                <a:sym typeface="Times New Roman"/>
              </a:rPr>
              <a:t>, Tarun Kumar Jasti and Satyaki Mitra</a:t>
            </a:r>
            <a:endParaRPr sz="4267" b="1" dirty="0">
              <a:solidFill>
                <a:srgbClr val="CE1727"/>
              </a:solidFill>
              <a:latin typeface="Times New Roman"/>
              <a:ea typeface="Times New Roman"/>
              <a:cs typeface="Times New Roman"/>
              <a:sym typeface="Times New Roman"/>
            </a:endParaRPr>
          </a:p>
          <a:p>
            <a:pPr marL="0" marR="0" lvl="0" indent="0" algn="ctr" rtl="0">
              <a:spcBef>
                <a:spcPts val="0"/>
              </a:spcBef>
              <a:spcAft>
                <a:spcPts val="0"/>
              </a:spcAft>
              <a:buNone/>
            </a:pPr>
            <a:r>
              <a:rPr lang="en-US" sz="3733" dirty="0">
                <a:solidFill>
                  <a:srgbClr val="CE1727"/>
                </a:solidFill>
                <a:latin typeface="Times New Roman"/>
                <a:ea typeface="Times New Roman"/>
                <a:cs typeface="Times New Roman"/>
                <a:sym typeface="Times New Roman"/>
              </a:rPr>
              <a:t>Data Analytics Program, School of Professional Studies</a:t>
            </a:r>
            <a:endParaRPr dirty="0"/>
          </a:p>
          <a:p>
            <a:pPr marL="0" marR="0" lvl="0" indent="0" algn="ctr" rtl="0">
              <a:spcBef>
                <a:spcPts val="0"/>
              </a:spcBef>
              <a:spcAft>
                <a:spcPts val="0"/>
              </a:spcAft>
              <a:buNone/>
            </a:pPr>
            <a:r>
              <a:rPr lang="en-US" sz="3733" dirty="0">
                <a:solidFill>
                  <a:srgbClr val="CE1727"/>
                </a:solidFill>
                <a:latin typeface="Times New Roman"/>
                <a:ea typeface="Times New Roman"/>
                <a:cs typeface="Times New Roman"/>
                <a:sym typeface="Times New Roman"/>
              </a:rPr>
              <a:t>Clark University, Worcester, MA</a:t>
            </a:r>
            <a:endParaRPr dirty="0"/>
          </a:p>
        </p:txBody>
      </p:sp>
      <p:sp>
        <p:nvSpPr>
          <p:cNvPr id="95" name="Google Shape;95;p13" descr="Blue tissue paper"/>
          <p:cNvSpPr txBox="1"/>
          <p:nvPr/>
        </p:nvSpPr>
        <p:spPr>
          <a:xfrm>
            <a:off x="1083731" y="5802485"/>
            <a:ext cx="13776959" cy="85344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a:solidFill>
                  <a:schemeClr val="dk1"/>
                </a:solidFill>
                <a:latin typeface="Times New Roman"/>
                <a:ea typeface="Times New Roman"/>
                <a:cs typeface="Times New Roman"/>
                <a:sym typeface="Times New Roman"/>
              </a:rPr>
              <a:t>Abstract</a:t>
            </a:r>
            <a:endParaRPr/>
          </a:p>
        </p:txBody>
      </p:sp>
      <p:sp>
        <p:nvSpPr>
          <p:cNvPr id="96" name="Google Shape;96;p13" descr="Blue tissue paper"/>
          <p:cNvSpPr txBox="1"/>
          <p:nvPr/>
        </p:nvSpPr>
        <p:spPr>
          <a:xfrm>
            <a:off x="1064450" y="13156362"/>
            <a:ext cx="13776900" cy="8535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Introduction &amp; Background</a:t>
            </a:r>
            <a:endParaRPr dirty="0"/>
          </a:p>
        </p:txBody>
      </p:sp>
      <p:sp>
        <p:nvSpPr>
          <p:cNvPr id="97" name="Google Shape;97;p13"/>
          <p:cNvSpPr/>
          <p:nvPr/>
        </p:nvSpPr>
        <p:spPr>
          <a:xfrm>
            <a:off x="1120084" y="14148276"/>
            <a:ext cx="13716000" cy="8469166"/>
          </a:xfrm>
          <a:prstGeom prst="rect">
            <a:avLst/>
          </a:prstGeom>
          <a:noFill/>
          <a:ln>
            <a:noFill/>
          </a:ln>
        </p:spPr>
        <p:txBody>
          <a:bodyPr spcFirstLastPara="1" wrap="square" lIns="87075" tIns="43525" rIns="87075" bIns="43525" anchor="t" anchorCtr="0">
            <a:noAutofit/>
          </a:bodyPr>
          <a:lstStyle/>
          <a:p>
            <a:pPr algn="just"/>
            <a:r>
              <a:rPr lang="en-IN" sz="2650" dirty="0">
                <a:latin typeface="Times New Roman" panose="02020603050405020304" pitchFamily="18" charset="0"/>
                <a:cs typeface="Times New Roman" panose="02020603050405020304" pitchFamily="18" charset="0"/>
              </a:rPr>
              <a:t>Stack Overflow is the largest programming Q&amp;A platform with 24 million+ questions spanning every technology domain. Developers rely on it daily, yet finding the right answer remains challenging for two fundamental reasons:</a:t>
            </a:r>
          </a:p>
          <a:p>
            <a:pPr algn="just"/>
            <a:r>
              <a:rPr lang="en-IN" sz="2650" b="1" dirty="0">
                <a:latin typeface="Times New Roman" panose="02020603050405020304" pitchFamily="18" charset="0"/>
                <a:cs typeface="Times New Roman" panose="02020603050405020304" pitchFamily="18" charset="0"/>
              </a:rPr>
              <a:t>1. Keyword Mismatch: </a:t>
            </a:r>
            <a:r>
              <a:rPr lang="en-IN" sz="2650" dirty="0">
                <a:latin typeface="Times New Roman" panose="02020603050405020304" pitchFamily="18" charset="0"/>
                <a:cs typeface="Times New Roman" panose="02020603050405020304" pitchFamily="18" charset="0"/>
              </a:rPr>
              <a:t>Traditional search engines match exact words. A search for “sort a list in Python” returns results containing those keywords—including R language questions about sort() and list() functions. The search cannot understand that “order elements” means the same as “sort array.”</a:t>
            </a:r>
          </a:p>
          <a:p>
            <a:pPr algn="just"/>
            <a:r>
              <a:rPr lang="en-IN" sz="2650" b="1" dirty="0">
                <a:latin typeface="Times New Roman" panose="02020603050405020304" pitchFamily="18" charset="0"/>
                <a:cs typeface="Times New Roman" panose="02020603050405020304" pitchFamily="18" charset="0"/>
              </a:rPr>
              <a:t>2. Quality Ranking Gap: </a:t>
            </a:r>
            <a:r>
              <a:rPr lang="en-IN" sz="2650" dirty="0">
                <a:latin typeface="Times New Roman" panose="02020603050405020304" pitchFamily="18" charset="0"/>
                <a:cs typeface="Times New Roman" panose="02020603050405020304" pitchFamily="18" charset="0"/>
              </a:rPr>
              <a:t>Even when relevant results appear, a 35-vote question often ranks above a 419-vote canonical answer because conventional search ranks by text similarity, not content quality. The best answers remain buried.</a:t>
            </a:r>
          </a:p>
          <a:p>
            <a:pPr algn="just"/>
            <a:r>
              <a:rPr lang="en-IN" sz="2650" b="1" dirty="0">
                <a:latin typeface="Times New Roman" panose="02020603050405020304" pitchFamily="18" charset="0"/>
                <a:cs typeface="Times New Roman" panose="02020603050405020304" pitchFamily="18" charset="0"/>
              </a:rPr>
              <a:t>3. No Personalization: </a:t>
            </a:r>
            <a:r>
              <a:rPr lang="en-IN" sz="2650" dirty="0">
                <a:latin typeface="Times New Roman" panose="02020603050405020304" pitchFamily="18" charset="0"/>
                <a:cs typeface="Times New Roman" panose="02020603050405020304" pitchFamily="18" charset="0"/>
              </a:rPr>
              <a:t>A Python developer and a JavaScript developer searching “how to handle errors” receive identical results, despite having fundamentally different needs.</a:t>
            </a:r>
          </a:p>
          <a:p>
            <a:pPr>
              <a:spcBef>
                <a:spcPts val="1200"/>
              </a:spcBef>
            </a:pPr>
            <a:r>
              <a:rPr lang="en-IN" sz="2650" b="1" dirty="0">
                <a:latin typeface="Times New Roman" panose="02020603050405020304" pitchFamily="18" charset="0"/>
                <a:cs typeface="Times New Roman" panose="02020603050405020304" pitchFamily="18" charset="0"/>
              </a:rPr>
              <a:t>Our system:</a:t>
            </a: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dirty="0">
              <a:latin typeface="Times New Roman" panose="02020603050405020304" pitchFamily="18" charset="0"/>
              <a:cs typeface="Times New Roman" panose="02020603050405020304" pitchFamily="18" charset="0"/>
            </a:endParaRPr>
          </a:p>
          <a:p>
            <a:endParaRPr lang="en-IN" sz="2650"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r>
              <a:rPr lang="en-IN" sz="2650" b="1" dirty="0">
                <a:latin typeface="Times New Roman" panose="02020603050405020304" pitchFamily="18" charset="0"/>
                <a:cs typeface="Times New Roman" panose="02020603050405020304" pitchFamily="18" charset="0"/>
              </a:rPr>
              <a:t>Key Technologies: </a:t>
            </a:r>
            <a:r>
              <a:rPr lang="en-IN" sz="2650" dirty="0">
                <a:latin typeface="Times New Roman" panose="02020603050405020304" pitchFamily="18" charset="0"/>
                <a:cs typeface="Times New Roman" panose="02020603050405020304" pitchFamily="18" charset="0"/>
              </a:rPr>
              <a:t>Google </a:t>
            </a:r>
            <a:r>
              <a:rPr lang="en-IN" sz="2650" dirty="0" err="1">
                <a:latin typeface="Times New Roman" panose="02020603050405020304" pitchFamily="18" charset="0"/>
                <a:cs typeface="Times New Roman" panose="02020603050405020304" pitchFamily="18" charset="0"/>
              </a:rPr>
              <a:t>BigQuery</a:t>
            </a:r>
            <a:r>
              <a:rPr lang="en-IN" sz="2650" dirty="0">
                <a:latin typeface="Times New Roman" panose="02020603050405020304" pitchFamily="18" charset="0"/>
                <a:cs typeface="Times New Roman" panose="02020603050405020304" pitchFamily="18" charset="0"/>
              </a:rPr>
              <a:t>, Sentence-Transformers (BERT family), FAISS (Facebook AI Similarity Search), Cross-Encoder (MS MARCO), SQLite, </a:t>
            </a:r>
            <a:r>
              <a:rPr lang="en-IN" sz="2650" dirty="0" err="1">
                <a:latin typeface="Times New Roman" panose="02020603050405020304" pitchFamily="18" charset="0"/>
                <a:cs typeface="Times New Roman" panose="02020603050405020304" pitchFamily="18" charset="0"/>
              </a:rPr>
              <a:t>FastAPI</a:t>
            </a:r>
            <a:r>
              <a:rPr lang="en-IN" sz="2650" dirty="0">
                <a:latin typeface="Times New Roman" panose="02020603050405020304" pitchFamily="18" charset="0"/>
                <a:cs typeface="Times New Roman" panose="02020603050405020304" pitchFamily="18" charset="0"/>
              </a:rPr>
              <a:t>.</a:t>
            </a:r>
          </a:p>
          <a:p>
            <a:br>
              <a:rPr lang="en-IN" dirty="0"/>
            </a:br>
            <a:endParaRPr lang="en-IN" dirty="0"/>
          </a:p>
          <a:p>
            <a:pPr marL="0" marR="0" lvl="0" indent="0" algn="just" rtl="0">
              <a:spcBef>
                <a:spcPts val="1200"/>
              </a:spcBef>
              <a:spcAft>
                <a:spcPts val="0"/>
              </a:spcAft>
              <a:buNone/>
            </a:pPr>
            <a:endParaRPr sz="2400" dirty="0">
              <a:solidFill>
                <a:schemeClr val="dk1"/>
              </a:solidFill>
              <a:latin typeface="Times New Roman"/>
              <a:ea typeface="Times New Roman"/>
              <a:cs typeface="Times New Roman"/>
              <a:sym typeface="Times New Roman"/>
            </a:endParaRPr>
          </a:p>
        </p:txBody>
      </p:sp>
      <p:sp>
        <p:nvSpPr>
          <p:cNvPr id="98" name="Google Shape;98;p13"/>
          <p:cNvSpPr/>
          <p:nvPr/>
        </p:nvSpPr>
        <p:spPr>
          <a:xfrm>
            <a:off x="1130788" y="22592749"/>
            <a:ext cx="13716000" cy="9884235"/>
          </a:xfrm>
          <a:prstGeom prst="rect">
            <a:avLst/>
          </a:prstGeom>
          <a:noFill/>
          <a:ln>
            <a:noFill/>
          </a:ln>
        </p:spPr>
        <p:txBody>
          <a:bodyPr spcFirstLastPara="1" wrap="square" lIns="87075" tIns="43525" rIns="87075" bIns="43525" anchor="t" anchorCtr="0">
            <a:noAutofit/>
          </a:bodyPr>
          <a:lstStyle/>
          <a:p>
            <a:pPr marL="0" marR="0" lvl="0" indent="0" algn="just" rtl="0">
              <a:spcBef>
                <a:spcPts val="1200"/>
              </a:spcBef>
              <a:spcAft>
                <a:spcPts val="0"/>
              </a:spcAft>
              <a:buNone/>
            </a:pPr>
            <a:endParaRPr sz="2400" b="1" dirty="0">
              <a:solidFill>
                <a:schemeClr val="dk1"/>
              </a:solidFill>
              <a:latin typeface="Times New Roman"/>
              <a:ea typeface="Times New Roman"/>
              <a:cs typeface="Times New Roman"/>
              <a:sym typeface="Times New Roman"/>
            </a:endParaRPr>
          </a:p>
        </p:txBody>
      </p:sp>
      <p:sp>
        <p:nvSpPr>
          <p:cNvPr id="99" name="Google Shape;99;p13"/>
          <p:cNvSpPr/>
          <p:nvPr/>
        </p:nvSpPr>
        <p:spPr>
          <a:xfrm>
            <a:off x="1178425" y="6819900"/>
            <a:ext cx="13542900" cy="6152696"/>
          </a:xfrm>
          <a:prstGeom prst="rect">
            <a:avLst/>
          </a:prstGeom>
          <a:noFill/>
          <a:ln>
            <a:noFill/>
          </a:ln>
        </p:spPr>
        <p:txBody>
          <a:bodyPr spcFirstLastPara="1" wrap="square" lIns="87075" tIns="43525" rIns="87075" bIns="43525" anchor="t" anchorCtr="0">
            <a:noAutofit/>
          </a:bodyPr>
          <a:lstStyle/>
          <a:p>
            <a:pPr algn="just"/>
            <a:r>
              <a:rPr lang="en-IN" sz="2650" dirty="0">
                <a:latin typeface="Times New Roman" panose="02020603050405020304" pitchFamily="18" charset="0"/>
                <a:cs typeface="Times New Roman" panose="02020603050405020304" pitchFamily="18" charset="0"/>
              </a:rPr>
              <a:t>Stack Overflow hosts over 24 million questions, yet developers frequently struggle to find relevant, high-quality answers. Traditional keyword-based search fails when different words describe the same concept—“sort array” misses results titled “order elements in list” despite identical intent. This project introduces a semantic search and content-based personalized recommendation system for Stack Overflow questions. We extract 498,644 questions and 1.2 million answers from Google </a:t>
            </a:r>
            <a:r>
              <a:rPr lang="en-IN" sz="2650" dirty="0" err="1">
                <a:latin typeface="Times New Roman" panose="02020603050405020304" pitchFamily="18" charset="0"/>
                <a:cs typeface="Times New Roman" panose="02020603050405020304" pitchFamily="18" charset="0"/>
              </a:rPr>
              <a:t>BigQuery</a:t>
            </a:r>
            <a:r>
              <a:rPr lang="en-IN" sz="2650" dirty="0">
                <a:latin typeface="Times New Roman" panose="02020603050405020304" pitchFamily="18" charset="0"/>
                <a:cs typeface="Times New Roman" panose="02020603050405020304" pitchFamily="18" charset="0"/>
              </a:rPr>
              <a:t>, clean HTML while preserving inline code keywords critical for embeddings, and generate 384-dimensional sentence embeddings using all-MiniLM-L6-v2. Our 3-stage pipeline employs FAISS vector similarity search for candidate retrieval (~3ms), a Cross-Encoder re-ranker trained on 8.8 million Bing query-passage pairs for relevance refinement, and a 6-signal weighted scoring formula incorporating community votes, view counts, and answer quality. Content-based personalization tracks user click history in SQLite and builds tag-preference profiles, enabling different developers to receive tailored results for identical queries. Evaluation across 15 test queries demonstrates a 16.4% improvement in NDCG@5 over TF-IDF keyword baseline, with the full pipeline achieving NDCG@5 of 0.885 and winning 10 of 15 queries.</a:t>
            </a:r>
          </a:p>
          <a:p>
            <a:pPr marL="0" marR="0" lvl="0" indent="0" algn="just" rtl="0">
              <a:spcBef>
                <a:spcPts val="0"/>
              </a:spcBef>
              <a:spcAft>
                <a:spcPts val="0"/>
              </a:spcAft>
              <a:buNone/>
            </a:pPr>
            <a:endParaRPr lang="en-US" sz="2650" dirty="0">
              <a:solidFill>
                <a:schemeClr val="dk1"/>
              </a:solidFill>
              <a:latin typeface="Times New Roman"/>
              <a:ea typeface="Times New Roman"/>
              <a:cs typeface="Times New Roman"/>
              <a:sym typeface="Times New Roman"/>
            </a:endParaRPr>
          </a:p>
        </p:txBody>
      </p:sp>
      <p:sp>
        <p:nvSpPr>
          <p:cNvPr id="100" name="Google Shape;100;p13" descr="Blue tissue paper"/>
          <p:cNvSpPr txBox="1"/>
          <p:nvPr/>
        </p:nvSpPr>
        <p:spPr>
          <a:xfrm>
            <a:off x="15057119" y="5802485"/>
            <a:ext cx="13776960" cy="85344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lvl="0" indent="0" algn="ctr" rtl="0">
              <a:spcBef>
                <a:spcPts val="0"/>
              </a:spcBef>
              <a:spcAft>
                <a:spcPts val="0"/>
              </a:spcAft>
              <a:buClr>
                <a:schemeClr val="dk1"/>
              </a:buClr>
              <a:buSzPts val="4800"/>
              <a:buFont typeface="Times New Roman"/>
              <a:buNone/>
            </a:pPr>
            <a:r>
              <a:rPr lang="en-US" sz="4800" b="1">
                <a:solidFill>
                  <a:schemeClr val="dk1"/>
                </a:solidFill>
                <a:latin typeface="Times New Roman"/>
                <a:ea typeface="Times New Roman"/>
                <a:cs typeface="Times New Roman"/>
                <a:sym typeface="Times New Roman"/>
              </a:rPr>
              <a:t>Methodology &amp; Procedure</a:t>
            </a:r>
            <a:endParaRPr sz="4800">
              <a:solidFill>
                <a:schemeClr val="dk1"/>
              </a:solidFill>
              <a:latin typeface="Times New Roman"/>
              <a:ea typeface="Times New Roman"/>
              <a:cs typeface="Times New Roman"/>
              <a:sym typeface="Times New Roman"/>
            </a:endParaRPr>
          </a:p>
        </p:txBody>
      </p:sp>
      <p:sp>
        <p:nvSpPr>
          <p:cNvPr id="101" name="Google Shape;101;p13"/>
          <p:cNvSpPr/>
          <p:nvPr/>
        </p:nvSpPr>
        <p:spPr>
          <a:xfrm>
            <a:off x="15070167" y="9664037"/>
            <a:ext cx="13716000" cy="11297766"/>
          </a:xfrm>
          <a:prstGeom prst="rect">
            <a:avLst/>
          </a:prstGeom>
          <a:noFill/>
          <a:ln>
            <a:noFill/>
          </a:ln>
        </p:spPr>
        <p:txBody>
          <a:bodyPr spcFirstLastPara="1" wrap="square" lIns="87075" tIns="43525" rIns="87075" bIns="43525" anchor="t" anchorCtr="0">
            <a:noAutofit/>
          </a:bodyPr>
          <a:lstStyle/>
          <a:p>
            <a:pPr algn="ctr"/>
            <a:endParaRPr lang="en-IN" sz="2650"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dirty="0">
              <a:latin typeface="Times New Roman" panose="02020603050405020304" pitchFamily="18" charset="0"/>
              <a:cs typeface="Times New Roman" panose="02020603050405020304" pitchFamily="18" charset="0"/>
            </a:endParaRPr>
          </a:p>
          <a:p>
            <a:pPr>
              <a:spcBef>
                <a:spcPts val="600"/>
              </a:spcBef>
            </a:pPr>
            <a:r>
              <a:rPr lang="en-IN" sz="2650" b="1" dirty="0">
                <a:latin typeface="Times New Roman" panose="02020603050405020304" pitchFamily="18" charset="0"/>
                <a:cs typeface="Times New Roman" panose="02020603050405020304" pitchFamily="18" charset="0"/>
              </a:rPr>
              <a:t>Content-Based Personalization:</a:t>
            </a:r>
            <a:endParaRPr lang="en-IN" sz="2650" dirty="0">
              <a:latin typeface="Times New Roman" panose="02020603050405020304" pitchFamily="18" charset="0"/>
              <a:cs typeface="Times New Roman" panose="02020603050405020304" pitchFamily="18" charset="0"/>
            </a:endParaRPr>
          </a:p>
          <a:p>
            <a:pPr algn="just"/>
            <a:r>
              <a:rPr lang="en-IN" sz="2650" dirty="0">
                <a:latin typeface="Times New Roman" panose="02020603050405020304" pitchFamily="18" charset="0"/>
                <a:cs typeface="Times New Roman" panose="02020603050405020304" pitchFamily="18" charset="0"/>
              </a:rPr>
              <a:t>User clicks are tracked in SQLite. A tag-preference profile is built with recency weighting (recent clicks weighted 1.0, oldest decays to 0.3). The </a:t>
            </a:r>
            <a:r>
              <a:rPr lang="en-IN" sz="2650" dirty="0" err="1">
                <a:latin typeface="Times New Roman" panose="02020603050405020304" pitchFamily="18" charset="0"/>
                <a:cs typeface="Times New Roman" panose="02020603050405020304" pitchFamily="18" charset="0"/>
              </a:rPr>
              <a:t>user_tag_match</a:t>
            </a:r>
            <a:r>
              <a:rPr lang="en-IN" sz="2650" dirty="0">
                <a:latin typeface="Times New Roman" panose="02020603050405020304" pitchFamily="18" charset="0"/>
                <a:cs typeface="Times New Roman" panose="02020603050405020304" pitchFamily="18" charset="0"/>
              </a:rPr>
              <a:t> signal boosts results matching the user’s preferred tags. New users receive rule-based cold start recommendations (trending questions across diverse tags).</a:t>
            </a:r>
          </a:p>
        </p:txBody>
      </p:sp>
      <p:sp>
        <p:nvSpPr>
          <p:cNvPr id="102" name="Google Shape;102;p13" descr="Blue tissue paper"/>
          <p:cNvSpPr txBox="1"/>
          <p:nvPr/>
        </p:nvSpPr>
        <p:spPr>
          <a:xfrm>
            <a:off x="29025463" y="24053242"/>
            <a:ext cx="13776900" cy="914751"/>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Future Work and Conclusion</a:t>
            </a:r>
            <a:endParaRPr sz="4800" b="1" dirty="0">
              <a:solidFill>
                <a:schemeClr val="dk1"/>
              </a:solidFill>
              <a:latin typeface="Arial"/>
              <a:ea typeface="Arial"/>
              <a:cs typeface="Arial"/>
              <a:sym typeface="Arial"/>
            </a:endParaRPr>
          </a:p>
        </p:txBody>
      </p:sp>
      <p:sp>
        <p:nvSpPr>
          <p:cNvPr id="104" name="Google Shape;104;p13" descr="Blue tissue paper"/>
          <p:cNvSpPr txBox="1"/>
          <p:nvPr/>
        </p:nvSpPr>
        <p:spPr>
          <a:xfrm>
            <a:off x="29060594" y="28943032"/>
            <a:ext cx="13748937" cy="8535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References</a:t>
            </a:r>
            <a:endParaRPr dirty="0"/>
          </a:p>
        </p:txBody>
      </p:sp>
      <p:sp>
        <p:nvSpPr>
          <p:cNvPr id="105" name="Google Shape;105;p13" descr="Blue tissue paper"/>
          <p:cNvSpPr txBox="1"/>
          <p:nvPr/>
        </p:nvSpPr>
        <p:spPr>
          <a:xfrm>
            <a:off x="29030502" y="5802445"/>
            <a:ext cx="13776900" cy="8535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a:solidFill>
                  <a:schemeClr val="dk1"/>
                </a:solidFill>
                <a:latin typeface="Times New Roman"/>
                <a:ea typeface="Times New Roman"/>
                <a:cs typeface="Times New Roman"/>
                <a:sym typeface="Times New Roman"/>
              </a:rPr>
              <a:t>Result</a:t>
            </a:r>
            <a:r>
              <a:rPr lang="en-US" sz="4800">
                <a:solidFill>
                  <a:schemeClr val="dk1"/>
                </a:solidFill>
                <a:latin typeface="Times New Roman"/>
                <a:ea typeface="Times New Roman"/>
                <a:cs typeface="Times New Roman"/>
                <a:sym typeface="Times New Roman"/>
              </a:rPr>
              <a:t>s </a:t>
            </a:r>
            <a:endParaRPr sz="4800">
              <a:solidFill>
                <a:schemeClr val="dk1"/>
              </a:solidFill>
              <a:latin typeface="Times New Roman"/>
              <a:ea typeface="Times New Roman"/>
              <a:cs typeface="Times New Roman"/>
              <a:sym typeface="Times New Roman"/>
            </a:endParaRPr>
          </a:p>
        </p:txBody>
      </p:sp>
      <p:sp>
        <p:nvSpPr>
          <p:cNvPr id="106" name="Google Shape;106;p13" descr="Blue tissue paper"/>
          <p:cNvSpPr txBox="1"/>
          <p:nvPr/>
        </p:nvSpPr>
        <p:spPr>
          <a:xfrm>
            <a:off x="1131789" y="23750325"/>
            <a:ext cx="13716000" cy="8535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Methodology &amp; Procedure</a:t>
            </a:r>
            <a:endParaRPr sz="4800" b="1" dirty="0">
              <a:solidFill>
                <a:schemeClr val="dk1"/>
              </a:solidFill>
              <a:latin typeface="Times New Roman"/>
              <a:ea typeface="Times New Roman"/>
              <a:cs typeface="Times New Roman"/>
              <a:sym typeface="Times New Roman"/>
            </a:endParaRPr>
          </a:p>
        </p:txBody>
      </p:sp>
      <p:sp>
        <p:nvSpPr>
          <p:cNvPr id="108" name="Google Shape;108;p13" descr="Blue tissue paper"/>
          <p:cNvSpPr txBox="1"/>
          <p:nvPr/>
        </p:nvSpPr>
        <p:spPr>
          <a:xfrm>
            <a:off x="15063825" y="17602050"/>
            <a:ext cx="13776900" cy="10150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Architectural Diagram</a:t>
            </a:r>
            <a:endParaRPr sz="4800" dirty="0">
              <a:solidFill>
                <a:schemeClr val="dk1"/>
              </a:solidFill>
              <a:latin typeface="Times New Roman"/>
              <a:ea typeface="Times New Roman"/>
              <a:cs typeface="Times New Roman"/>
              <a:sym typeface="Times New Roman"/>
            </a:endParaRPr>
          </a:p>
        </p:txBody>
      </p:sp>
      <p:sp>
        <p:nvSpPr>
          <p:cNvPr id="109" name="Google Shape;109;p13"/>
          <p:cNvSpPr txBox="1"/>
          <p:nvPr/>
        </p:nvSpPr>
        <p:spPr>
          <a:xfrm>
            <a:off x="37861030" y="3360047"/>
            <a:ext cx="4893733" cy="1565254"/>
          </a:xfrm>
          <a:prstGeom prst="rect">
            <a:avLst/>
          </a:prstGeom>
          <a:noFill/>
          <a:ln>
            <a:noFill/>
          </a:ln>
        </p:spPr>
        <p:txBody>
          <a:bodyPr spcFirstLastPara="1" wrap="square" lIns="87075" tIns="43525" rIns="87075" bIns="43525" anchor="t" anchorCtr="0">
            <a:spAutoFit/>
          </a:bodyPr>
          <a:lstStyle/>
          <a:p>
            <a:pPr marL="0" marR="0" lvl="0" indent="0" algn="ctr" rtl="0">
              <a:spcBef>
                <a:spcPts val="0"/>
              </a:spcBef>
              <a:spcAft>
                <a:spcPts val="0"/>
              </a:spcAft>
              <a:buNone/>
            </a:pPr>
            <a:r>
              <a:rPr lang="en-US" sz="3200">
                <a:solidFill>
                  <a:schemeClr val="dk1"/>
                </a:solidFill>
                <a:latin typeface="Times New Roman"/>
                <a:ea typeface="Times New Roman"/>
                <a:cs typeface="Times New Roman"/>
                <a:sym typeface="Times New Roman"/>
              </a:rPr>
              <a:t>23rd </a:t>
            </a:r>
            <a:r>
              <a:rPr lang="en-US" sz="3200" dirty="0">
                <a:solidFill>
                  <a:schemeClr val="dk1"/>
                </a:solidFill>
                <a:latin typeface="Times New Roman"/>
                <a:ea typeface="Times New Roman"/>
                <a:cs typeface="Times New Roman"/>
                <a:sym typeface="Times New Roman"/>
              </a:rPr>
              <a:t>Annual</a:t>
            </a:r>
            <a:endParaRPr dirty="0"/>
          </a:p>
          <a:p>
            <a:pPr marL="0" marR="0" lvl="0" indent="0" algn="ctr" rtl="0">
              <a:spcBef>
                <a:spcPts val="0"/>
              </a:spcBef>
              <a:spcAft>
                <a:spcPts val="0"/>
              </a:spcAft>
              <a:buNone/>
            </a:pPr>
            <a:r>
              <a:rPr lang="en-US" sz="3200" dirty="0">
                <a:solidFill>
                  <a:schemeClr val="dk1"/>
                </a:solidFill>
                <a:latin typeface="Times New Roman"/>
                <a:ea typeface="Times New Roman"/>
                <a:cs typeface="Times New Roman"/>
                <a:sym typeface="Times New Roman"/>
              </a:rPr>
              <a:t>Graduate Multidisciplinary</a:t>
            </a:r>
            <a:endParaRPr dirty="0"/>
          </a:p>
          <a:p>
            <a:pPr marL="0" marR="0" lvl="0" indent="0" algn="ctr" rtl="0">
              <a:spcBef>
                <a:spcPts val="0"/>
              </a:spcBef>
              <a:spcAft>
                <a:spcPts val="0"/>
              </a:spcAft>
              <a:buNone/>
            </a:pPr>
            <a:r>
              <a:rPr lang="en-US" sz="3200" dirty="0">
                <a:solidFill>
                  <a:schemeClr val="dk1"/>
                </a:solidFill>
                <a:latin typeface="Times New Roman"/>
                <a:ea typeface="Times New Roman"/>
                <a:cs typeface="Times New Roman"/>
                <a:sym typeface="Times New Roman"/>
              </a:rPr>
              <a:t>Conference (MDC)</a:t>
            </a:r>
            <a:endParaRPr dirty="0"/>
          </a:p>
        </p:txBody>
      </p:sp>
      <p:pic>
        <p:nvPicPr>
          <p:cNvPr id="110" name="Google Shape;110;p13" descr="A red and white logo with text&#10;&#10;AI-generated content may be incorrect."/>
          <p:cNvPicPr preferRelativeResize="0"/>
          <p:nvPr/>
        </p:nvPicPr>
        <p:blipFill rotWithShape="1">
          <a:blip r:embed="rId4">
            <a:alphaModFix/>
          </a:blip>
          <a:srcRect/>
          <a:stretch/>
        </p:blipFill>
        <p:spPr>
          <a:xfrm>
            <a:off x="39395400" y="1524000"/>
            <a:ext cx="1824995" cy="1824995"/>
          </a:xfrm>
          <a:prstGeom prst="rect">
            <a:avLst/>
          </a:prstGeom>
          <a:noFill/>
          <a:ln>
            <a:noFill/>
          </a:ln>
        </p:spPr>
      </p:pic>
      <p:sp>
        <p:nvSpPr>
          <p:cNvPr id="118" name="Google Shape;118;p13"/>
          <p:cNvSpPr txBox="1"/>
          <p:nvPr/>
        </p:nvSpPr>
        <p:spPr>
          <a:xfrm>
            <a:off x="15023864" y="29311764"/>
            <a:ext cx="13583099" cy="2463636"/>
          </a:xfrm>
          <a:prstGeom prst="rect">
            <a:avLst/>
          </a:prstGeom>
          <a:noFill/>
          <a:ln>
            <a:noFill/>
          </a:ln>
        </p:spPr>
        <p:txBody>
          <a:bodyPr spcFirstLastPara="1" wrap="square" lIns="91425" tIns="91425" rIns="91425" bIns="91425" anchor="t" anchorCtr="0">
            <a:noAutofit/>
          </a:bodyPr>
          <a:lstStyle/>
          <a:p>
            <a:pPr lvl="0" algn="just"/>
            <a:r>
              <a:rPr lang="en-US" sz="2400" b="1" dirty="0">
                <a:latin typeface="Times New Roman" panose="02020603050405020304" pitchFamily="18" charset="0"/>
                <a:cs typeface="Times New Roman" panose="02020603050405020304" pitchFamily="18" charset="0"/>
              </a:rPr>
              <a:t>Figure 1: System Architecture.</a:t>
            </a:r>
            <a:r>
              <a:rPr lang="en-US" sz="2400" dirty="0">
                <a:latin typeface="Times New Roman" panose="02020603050405020304" pitchFamily="18" charset="0"/>
                <a:cs typeface="Times New Roman" panose="02020603050405020304" pitchFamily="18" charset="0"/>
              </a:rPr>
              <a:t> The offline pipeline extracts, cleans, embeds, and indexes 498,644 questions. The online pipeline processes each query through three stages: FAISS retrieval (498K → top 50, ~3ms), Cross-Encoder re-ranking (top 50 → 20, ~100ms), and weighted scoring combining relevance, quality signals, and user tag preferences (top 20 → 10, ~1ms). Content-based personalization tracks clicks in SQLite, builds tag profiles, and feeds a </a:t>
            </a:r>
            <a:r>
              <a:rPr lang="en-US" sz="2400" dirty="0" err="1">
                <a:latin typeface="Times New Roman" panose="02020603050405020304" pitchFamily="18" charset="0"/>
                <a:cs typeface="Times New Roman" panose="02020603050405020304" pitchFamily="18" charset="0"/>
              </a:rPr>
              <a:t>user_tag_match</a:t>
            </a:r>
            <a:r>
              <a:rPr lang="en-US" sz="2400" dirty="0">
                <a:latin typeface="Times New Roman" panose="02020603050405020304" pitchFamily="18" charset="0"/>
                <a:cs typeface="Times New Roman" panose="02020603050405020304" pitchFamily="18" charset="0"/>
              </a:rPr>
              <a:t> signal (15% weight) into the scoring stage. Total latency: ~170ms per query.</a:t>
            </a:r>
            <a:endPar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120" name="Google Shape;120;p13"/>
          <p:cNvSpPr txBox="1"/>
          <p:nvPr/>
        </p:nvSpPr>
        <p:spPr>
          <a:xfrm>
            <a:off x="2128100" y="11342500"/>
            <a:ext cx="6633300" cy="244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4666">
              <a:solidFill>
                <a:schemeClr val="dk1"/>
              </a:solidFill>
              <a:latin typeface="Calibri"/>
              <a:ea typeface="Calibri"/>
              <a:cs typeface="Calibri"/>
              <a:sym typeface="Calibri"/>
            </a:endParaRPr>
          </a:p>
        </p:txBody>
      </p:sp>
      <p:sp>
        <p:nvSpPr>
          <p:cNvPr id="124" name="Google Shape;124;p13"/>
          <p:cNvSpPr txBox="1"/>
          <p:nvPr/>
        </p:nvSpPr>
        <p:spPr>
          <a:xfrm>
            <a:off x="29060594" y="6722847"/>
            <a:ext cx="13675356" cy="2317830"/>
          </a:xfrm>
          <a:prstGeom prst="rect">
            <a:avLst/>
          </a:prstGeom>
          <a:noFill/>
          <a:ln>
            <a:noFill/>
          </a:ln>
        </p:spPr>
        <p:txBody>
          <a:bodyPr spcFirstLastPara="1" wrap="square" lIns="91425" tIns="91425" rIns="91425" bIns="91425" anchor="t" anchorCtr="0">
            <a:noAutofit/>
          </a:bodyPr>
          <a:lstStyle/>
          <a:p>
            <a:r>
              <a:rPr lang="en-IN" sz="2650" b="1" dirty="0">
                <a:latin typeface="Times New Roman" panose="02020603050405020304" pitchFamily="18" charset="0"/>
                <a:cs typeface="Times New Roman" panose="02020603050405020304" pitchFamily="18" charset="0"/>
              </a:rPr>
              <a:t>Evaluation Setup:</a:t>
            </a:r>
            <a:endParaRPr lang="en-IN" sz="2650" dirty="0">
              <a:latin typeface="Times New Roman" panose="02020603050405020304" pitchFamily="18" charset="0"/>
              <a:cs typeface="Times New Roman" panose="02020603050405020304" pitchFamily="18" charset="0"/>
            </a:endParaRPr>
          </a:p>
          <a:p>
            <a:pPr algn="just"/>
            <a:r>
              <a:rPr lang="en-IN" sz="2650" dirty="0">
                <a:latin typeface="Times New Roman" panose="02020603050405020304" pitchFamily="18" charset="0"/>
                <a:cs typeface="Times New Roman" panose="02020603050405020304" pitchFamily="18" charset="0"/>
              </a:rPr>
              <a:t>Evaluated 15 queries across multiple programming topics, comparing TF-IDF, FAISS, FAISS + Cross-Encoder, and a full personalized pipeline, using NDCG@5 with graded relevance.</a:t>
            </a:r>
            <a:endParaRPr sz="2650" b="1" i="1" u="sng"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Rounded Rectangle 5">
            <a:extLst>
              <a:ext uri="{FF2B5EF4-FFF2-40B4-BE49-F238E27FC236}">
                <a16:creationId xmlns:a16="http://schemas.microsoft.com/office/drawing/2014/main" id="{1CCB91B6-3BF7-4BC1-A7B7-FD301CC3B950}"/>
              </a:ext>
            </a:extLst>
          </p:cNvPr>
          <p:cNvSpPr/>
          <p:nvPr/>
        </p:nvSpPr>
        <p:spPr>
          <a:xfrm>
            <a:off x="1498522" y="20050754"/>
            <a:ext cx="5963224" cy="692898"/>
          </a:xfrm>
          <a:prstGeom prst="roundRect">
            <a:avLst/>
          </a:prstGeom>
          <a:solidFill>
            <a:srgbClr val="BACAB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Semantic Understanding (Not Keywords)</a:t>
            </a:r>
            <a:endParaRPr lang="en-US" sz="2650" dirty="0">
              <a:solidFill>
                <a:schemeClr val="tx1"/>
              </a:solidFill>
              <a:latin typeface="Times New Roman" panose="02020603050405020304" pitchFamily="18" charset="0"/>
              <a:cs typeface="Times New Roman" panose="02020603050405020304" pitchFamily="18" charset="0"/>
            </a:endParaRPr>
          </a:p>
        </p:txBody>
      </p:sp>
      <p:pic>
        <p:nvPicPr>
          <p:cNvPr id="13" name="Graphic 12" descr="Brain with solid fill">
            <a:extLst>
              <a:ext uri="{FF2B5EF4-FFF2-40B4-BE49-F238E27FC236}">
                <a16:creationId xmlns:a16="http://schemas.microsoft.com/office/drawing/2014/main" id="{B0CBFCAA-951E-2B18-9C4E-1680EEEF78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78724" y="19881134"/>
            <a:ext cx="966044" cy="966044"/>
          </a:xfrm>
          <a:prstGeom prst="rect">
            <a:avLst/>
          </a:prstGeom>
        </p:spPr>
      </p:pic>
      <p:sp>
        <p:nvSpPr>
          <p:cNvPr id="14" name="Rounded Rectangle 13">
            <a:extLst>
              <a:ext uri="{FF2B5EF4-FFF2-40B4-BE49-F238E27FC236}">
                <a16:creationId xmlns:a16="http://schemas.microsoft.com/office/drawing/2014/main" id="{576D010E-8F23-6EA0-B5ED-006E247A00F6}"/>
              </a:ext>
            </a:extLst>
          </p:cNvPr>
          <p:cNvSpPr/>
          <p:nvPr/>
        </p:nvSpPr>
        <p:spPr>
          <a:xfrm>
            <a:off x="1498522" y="21186677"/>
            <a:ext cx="3443932" cy="692898"/>
          </a:xfrm>
          <a:prstGeom prst="roundRect">
            <a:avLst/>
          </a:prstGeom>
          <a:solidFill>
            <a:srgbClr val="BACAB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IN" sz="24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~3 </a:t>
            </a:r>
            <a:r>
              <a:rPr lang="en-IN" sz="2400" dirty="0" err="1">
                <a:solidFill>
                  <a:schemeClr val="tx1"/>
                </a:solidFill>
                <a:latin typeface="Times New Roman" panose="02020603050405020304" pitchFamily="18" charset="0"/>
                <a:ea typeface="Tahoma" panose="020B0604030504040204" pitchFamily="34" charset="0"/>
                <a:cs typeface="Times New Roman" panose="02020603050405020304" pitchFamily="18" charset="0"/>
              </a:rPr>
              <a:t>ms</a:t>
            </a:r>
            <a:r>
              <a:rPr lang="en-IN" sz="24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Retrieval Time    </a:t>
            </a:r>
            <a:endParaRPr lang="en-US" sz="2400" dirty="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2" name="Graphic 21" descr="Stopwatch 33% with solid fill">
            <a:extLst>
              <a:ext uri="{FF2B5EF4-FFF2-40B4-BE49-F238E27FC236}">
                <a16:creationId xmlns:a16="http://schemas.microsoft.com/office/drawing/2014/main" id="{362FD1C4-100D-AB35-5D36-72CF1E349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14828" y="21030151"/>
            <a:ext cx="1083061" cy="958544"/>
          </a:xfrm>
          <a:prstGeom prst="rect">
            <a:avLst/>
          </a:prstGeom>
        </p:spPr>
      </p:pic>
      <p:sp>
        <p:nvSpPr>
          <p:cNvPr id="23" name="Rounded Rectangle 22">
            <a:extLst>
              <a:ext uri="{FF2B5EF4-FFF2-40B4-BE49-F238E27FC236}">
                <a16:creationId xmlns:a16="http://schemas.microsoft.com/office/drawing/2014/main" id="{858EB9AF-F34E-9A80-DB61-419100696C65}"/>
              </a:ext>
            </a:extLst>
          </p:cNvPr>
          <p:cNvSpPr/>
          <p:nvPr/>
        </p:nvSpPr>
        <p:spPr>
          <a:xfrm>
            <a:off x="8174338" y="20058583"/>
            <a:ext cx="5963225" cy="692898"/>
          </a:xfrm>
          <a:prstGeom prst="roundRect">
            <a:avLst/>
          </a:prstGeom>
          <a:solidFill>
            <a:srgbClr val="BACAB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Quality-Aware Ranking</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24" name="Rounded Rectangle 23">
            <a:extLst>
              <a:ext uri="{FF2B5EF4-FFF2-40B4-BE49-F238E27FC236}">
                <a16:creationId xmlns:a16="http://schemas.microsoft.com/office/drawing/2014/main" id="{AB31EAF6-DBBF-950A-EA06-262DD78553EF}"/>
              </a:ext>
            </a:extLst>
          </p:cNvPr>
          <p:cNvSpPr/>
          <p:nvPr/>
        </p:nvSpPr>
        <p:spPr>
          <a:xfrm>
            <a:off x="5985856" y="21156427"/>
            <a:ext cx="3443932" cy="692898"/>
          </a:xfrm>
          <a:prstGeom prst="roundRect">
            <a:avLst/>
          </a:prstGeom>
          <a:solidFill>
            <a:srgbClr val="BACAB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Personalized Results</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20" name="Graphic 19" descr="Rating 3 Star with solid fill">
            <a:extLst>
              <a:ext uri="{FF2B5EF4-FFF2-40B4-BE49-F238E27FC236}">
                <a16:creationId xmlns:a16="http://schemas.microsoft.com/office/drawing/2014/main" id="{F495E867-C590-315C-8391-3E125EEDF6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314256" y="19713449"/>
            <a:ext cx="1276045" cy="1276045"/>
          </a:xfrm>
          <a:prstGeom prst="rect">
            <a:avLst/>
          </a:prstGeom>
        </p:spPr>
      </p:pic>
      <p:pic>
        <p:nvPicPr>
          <p:cNvPr id="18" name="Graphic 17" descr="Users with solid fill">
            <a:extLst>
              <a:ext uri="{FF2B5EF4-FFF2-40B4-BE49-F238E27FC236}">
                <a16:creationId xmlns:a16="http://schemas.microsoft.com/office/drawing/2014/main" id="{F590B23D-6ACE-F960-FA77-7DAB0851C48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84413" y="21030151"/>
            <a:ext cx="950700" cy="950700"/>
          </a:xfrm>
          <a:prstGeom prst="rect">
            <a:avLst/>
          </a:prstGeom>
        </p:spPr>
      </p:pic>
      <p:sp>
        <p:nvSpPr>
          <p:cNvPr id="25" name="Rounded Rectangle 24">
            <a:extLst>
              <a:ext uri="{FF2B5EF4-FFF2-40B4-BE49-F238E27FC236}">
                <a16:creationId xmlns:a16="http://schemas.microsoft.com/office/drawing/2014/main" id="{FB7FB6E0-BC1B-EBD9-100F-102F70C899D5}"/>
              </a:ext>
            </a:extLst>
          </p:cNvPr>
          <p:cNvSpPr/>
          <p:nvPr/>
        </p:nvSpPr>
        <p:spPr>
          <a:xfrm>
            <a:off x="10528758" y="21152655"/>
            <a:ext cx="3443932" cy="692898"/>
          </a:xfrm>
          <a:prstGeom prst="roundRect">
            <a:avLst/>
          </a:prstGeom>
          <a:solidFill>
            <a:srgbClr val="BACAB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End-to-End ML System</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6" name="Graphic 15" descr="Gears with solid fill">
            <a:extLst>
              <a:ext uri="{FF2B5EF4-FFF2-40B4-BE49-F238E27FC236}">
                <a16:creationId xmlns:a16="http://schemas.microsoft.com/office/drawing/2014/main" id="{B4A7CB42-E708-866E-56A5-7883D8BF38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37585" y="21064951"/>
            <a:ext cx="985466" cy="875850"/>
          </a:xfrm>
          <a:prstGeom prst="rect">
            <a:avLst/>
          </a:prstGeom>
        </p:spPr>
      </p:pic>
      <p:sp>
        <p:nvSpPr>
          <p:cNvPr id="30" name="Google Shape;97;p13">
            <a:extLst>
              <a:ext uri="{FF2B5EF4-FFF2-40B4-BE49-F238E27FC236}">
                <a16:creationId xmlns:a16="http://schemas.microsoft.com/office/drawing/2014/main" id="{5ACCD491-AE76-6950-2392-39381897F8EF}"/>
              </a:ext>
            </a:extLst>
          </p:cNvPr>
          <p:cNvSpPr/>
          <p:nvPr/>
        </p:nvSpPr>
        <p:spPr>
          <a:xfrm>
            <a:off x="1155250" y="24845360"/>
            <a:ext cx="13688102" cy="8028565"/>
          </a:xfrm>
          <a:prstGeom prst="rect">
            <a:avLst/>
          </a:prstGeom>
          <a:noFill/>
          <a:ln>
            <a:noFill/>
          </a:ln>
        </p:spPr>
        <p:txBody>
          <a:bodyPr spcFirstLastPara="1" wrap="square" lIns="87075" tIns="43525" rIns="87075" bIns="43525" anchor="t" anchorCtr="0">
            <a:noAutofit/>
          </a:bodyPr>
          <a:lstStyle/>
          <a:p>
            <a:r>
              <a:rPr lang="en-US" sz="2650" b="1" dirty="0">
                <a:latin typeface="Times New Roman" panose="02020603050405020304" pitchFamily="18" charset="0"/>
                <a:cs typeface="Times New Roman" panose="02020603050405020304" pitchFamily="18" charset="0"/>
              </a:rPr>
              <a:t>Data Extraction &amp; Cleaning:</a:t>
            </a:r>
          </a:p>
          <a:p>
            <a:pPr algn="just"/>
            <a:r>
              <a:rPr lang="en-US" sz="2650" dirty="0">
                <a:latin typeface="Times New Roman" panose="02020603050405020304" pitchFamily="18" charset="0"/>
                <a:cs typeface="Times New Roman" panose="02020603050405020304" pitchFamily="18" charset="0"/>
              </a:rPr>
              <a:t>We extracted 500,000 questions and 1.23 million answers (top 3 per question by community votes) from Google </a:t>
            </a:r>
            <a:r>
              <a:rPr lang="en-US" sz="2650" dirty="0" err="1">
                <a:latin typeface="Times New Roman" panose="02020603050405020304" pitchFamily="18" charset="0"/>
                <a:cs typeface="Times New Roman" panose="02020603050405020304" pitchFamily="18" charset="0"/>
              </a:rPr>
              <a:t>BigQuery’s</a:t>
            </a:r>
            <a:r>
              <a:rPr lang="en-US" sz="2650" dirty="0">
                <a:latin typeface="Times New Roman" panose="02020603050405020304" pitchFamily="18" charset="0"/>
                <a:cs typeface="Times New Roman" panose="02020603050405020304" pitchFamily="18" charset="0"/>
              </a:rPr>
              <a:t> public Stack Overflow dataset using a single optimized SQL query with stratified sampling across 30 technology tags. This ensured balanced coverage, with each tag receiving a minimum number of samples while preserving natural popularity distributions. HTML bodies were cleaned using </a:t>
            </a:r>
            <a:r>
              <a:rPr lang="en-US" sz="2650" dirty="0" err="1">
                <a:latin typeface="Times New Roman" panose="02020603050405020304" pitchFamily="18" charset="0"/>
                <a:cs typeface="Times New Roman" panose="02020603050405020304" pitchFamily="18" charset="0"/>
              </a:rPr>
              <a:t>BeautifulSoup</a:t>
            </a:r>
            <a:r>
              <a:rPr lang="en-US" sz="2650" dirty="0">
                <a:latin typeface="Times New Roman" panose="02020603050405020304" pitchFamily="18" charset="0"/>
                <a:cs typeface="Times New Roman" panose="02020603050405020304" pitchFamily="18" charset="0"/>
              </a:rPr>
              <a:t>, preserving inline code (e.g., pandas, float) as semantic keywords while separating multi-line code blocks to reduce embedding noise. Seven additional features were engineered, including text length metrics and structural indicators. The final dataset contains 498,644 clean questions and 1,199,383 answers.</a:t>
            </a:r>
            <a:endParaRPr lang="en-IN" sz="2650" dirty="0">
              <a:latin typeface="Times New Roman" panose="02020603050405020304" pitchFamily="18" charset="0"/>
              <a:cs typeface="Times New Roman" panose="02020603050405020304" pitchFamily="18" charset="0"/>
            </a:endParaRPr>
          </a:p>
          <a:p>
            <a:pPr algn="just"/>
            <a:r>
              <a:rPr lang="en-IN" sz="2650" b="1" dirty="0">
                <a:latin typeface="Times New Roman" panose="02020603050405020304" pitchFamily="18" charset="0"/>
                <a:cs typeface="Times New Roman" panose="02020603050405020304" pitchFamily="18" charset="0"/>
              </a:rPr>
              <a:t>Embedding Generation:</a:t>
            </a:r>
            <a:endParaRPr lang="en-IN" sz="2650" dirty="0">
              <a:latin typeface="Times New Roman" panose="02020603050405020304" pitchFamily="18" charset="0"/>
              <a:cs typeface="Times New Roman" panose="02020603050405020304" pitchFamily="18" charset="0"/>
            </a:endParaRPr>
          </a:p>
          <a:p>
            <a:pPr algn="just"/>
            <a:r>
              <a:rPr lang="en-US" sz="2650" dirty="0">
                <a:latin typeface="Times New Roman" panose="02020603050405020304" pitchFamily="18" charset="0"/>
                <a:cs typeface="Times New Roman" panose="02020603050405020304" pitchFamily="18" charset="0"/>
              </a:rPr>
              <a:t>Each question is encoded into a 384-dimensional dense vector using all-MiniLM-L6-v2, a distilled BERT-based model developed by Microsoft and fine-tuned for semantic similarity tasks. The input structure follows “{title} [SEP] {tags} [SEP] {body first 200 words},” where the separator token enables the model to differentiate between semantic components. Body text is truncated to 200 words to align with the model’s token limit and ensure efficient processing. To maintain consistency between embeddings and source data, an explicit ID mapping (</a:t>
            </a:r>
            <a:r>
              <a:rPr lang="en-US" sz="2650" dirty="0" err="1">
                <a:latin typeface="Times New Roman" panose="02020603050405020304" pitchFamily="18" charset="0"/>
                <a:cs typeface="Times New Roman" panose="02020603050405020304" pitchFamily="18" charset="0"/>
              </a:rPr>
              <a:t>question_ids.npy</a:t>
            </a:r>
            <a:r>
              <a:rPr lang="en-US" sz="2650" dirty="0">
                <a:latin typeface="Times New Roman" panose="02020603050405020304" pitchFamily="18" charset="0"/>
                <a:cs typeface="Times New Roman" panose="02020603050405020304" pitchFamily="18" charset="0"/>
              </a:rPr>
              <a:t>) is stored, preventing misalignment during FAISS retrieval. The final output is a 730.4 MB embedding matrix of shape (498,644 × 384).</a:t>
            </a:r>
            <a:endParaRPr lang="en-IN" sz="2650"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endParaRPr lang="en-IN" sz="2650" b="1" dirty="0">
              <a:latin typeface="Times New Roman" panose="02020603050405020304" pitchFamily="18" charset="0"/>
              <a:cs typeface="Times New Roman" panose="02020603050405020304" pitchFamily="18" charset="0"/>
            </a:endParaRPr>
          </a:p>
          <a:p>
            <a:br>
              <a:rPr lang="en-IN" dirty="0"/>
            </a:br>
            <a:endParaRPr lang="en-IN" dirty="0"/>
          </a:p>
          <a:p>
            <a:pPr marL="0" marR="0" lvl="0" indent="0" algn="just" rtl="0">
              <a:spcBef>
                <a:spcPts val="1200"/>
              </a:spcBef>
              <a:spcAft>
                <a:spcPts val="0"/>
              </a:spcAft>
              <a:buNone/>
            </a:pPr>
            <a:endParaRPr sz="2400" dirty="0">
              <a:solidFill>
                <a:schemeClr val="dk1"/>
              </a:solidFill>
              <a:latin typeface="Times New Roman"/>
              <a:ea typeface="Times New Roman"/>
              <a:cs typeface="Times New Roman"/>
              <a:sym typeface="Times New Roman"/>
            </a:endParaRPr>
          </a:p>
        </p:txBody>
      </p:sp>
      <p:sp>
        <p:nvSpPr>
          <p:cNvPr id="37" name="TextBox 36">
            <a:extLst>
              <a:ext uri="{FF2B5EF4-FFF2-40B4-BE49-F238E27FC236}">
                <a16:creationId xmlns:a16="http://schemas.microsoft.com/office/drawing/2014/main" id="{FD941FA2-B88A-7480-DDB1-7ADA5B337900}"/>
              </a:ext>
            </a:extLst>
          </p:cNvPr>
          <p:cNvSpPr txBox="1"/>
          <p:nvPr/>
        </p:nvSpPr>
        <p:spPr>
          <a:xfrm>
            <a:off x="15245447" y="6941920"/>
            <a:ext cx="21945600" cy="500137"/>
          </a:xfrm>
          <a:prstGeom prst="rect">
            <a:avLst/>
          </a:prstGeom>
          <a:noFill/>
        </p:spPr>
        <p:txBody>
          <a:bodyPr wrap="square">
            <a:spAutoFit/>
          </a:bodyPr>
          <a:lstStyle/>
          <a:p>
            <a:pPr>
              <a:spcBef>
                <a:spcPts val="600"/>
              </a:spcBef>
              <a:spcAft>
                <a:spcPts val="1200"/>
              </a:spcAft>
            </a:pPr>
            <a:r>
              <a:rPr lang="en-IN" sz="2650" b="1" dirty="0">
                <a:latin typeface="Times New Roman" panose="02020603050405020304" pitchFamily="18" charset="0"/>
                <a:cs typeface="Times New Roman" panose="02020603050405020304" pitchFamily="18" charset="0"/>
              </a:rPr>
              <a:t>3-Stage Retrieval &amp; Ranking Pipeline:</a:t>
            </a:r>
            <a:endParaRPr lang="en-IN" sz="2650" dirty="0">
              <a:latin typeface="Times New Roman" panose="02020603050405020304" pitchFamily="18" charset="0"/>
              <a:cs typeface="Times New Roman" panose="02020603050405020304" pitchFamily="18" charset="0"/>
            </a:endParaRPr>
          </a:p>
        </p:txBody>
      </p:sp>
      <p:sp>
        <p:nvSpPr>
          <p:cNvPr id="38" name="Rounded Rectangle 37">
            <a:extLst>
              <a:ext uri="{FF2B5EF4-FFF2-40B4-BE49-F238E27FC236}">
                <a16:creationId xmlns:a16="http://schemas.microsoft.com/office/drawing/2014/main" id="{9E0BAF0F-10C5-8BAA-7BD4-7F2BDD4B9BED}"/>
              </a:ext>
            </a:extLst>
          </p:cNvPr>
          <p:cNvSpPr/>
          <p:nvPr/>
        </p:nvSpPr>
        <p:spPr>
          <a:xfrm>
            <a:off x="15133737" y="9927587"/>
            <a:ext cx="13583099" cy="2574737"/>
          </a:xfrm>
          <a:prstGeom prst="roundRect">
            <a:avLst/>
          </a:prstGeom>
          <a:solidFill>
            <a:srgbClr val="BACAB9">
              <a:alpha val="236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650" b="1" dirty="0">
                <a:solidFill>
                  <a:schemeClr val="tx1"/>
                </a:solidFill>
                <a:latin typeface="Times New Roman" panose="02020603050405020304" pitchFamily="18" charset="0"/>
                <a:cs typeface="Times New Roman" panose="02020603050405020304" pitchFamily="18" charset="0"/>
              </a:rPr>
              <a:t>Stage 2 </a:t>
            </a:r>
          </a:p>
          <a:p>
            <a:pPr algn="ctr"/>
            <a:r>
              <a:rPr lang="en-IN" sz="2650" b="1" dirty="0">
                <a:solidFill>
                  <a:schemeClr val="tx1"/>
                </a:solidFill>
                <a:latin typeface="Times New Roman" panose="02020603050405020304" pitchFamily="18" charset="0"/>
                <a:cs typeface="Times New Roman" panose="02020603050405020304" pitchFamily="18" charset="0"/>
              </a:rPr>
              <a:t>Cross-Encoder Re-ranking (~100ms) </a:t>
            </a:r>
          </a:p>
          <a:p>
            <a:pPr algn="ctr"/>
            <a:r>
              <a:rPr lang="en-IN" sz="2650" dirty="0">
                <a:solidFill>
                  <a:schemeClr val="tx1"/>
                </a:solidFill>
                <a:latin typeface="Times New Roman" panose="02020603050405020304" pitchFamily="18" charset="0"/>
                <a:cs typeface="Times New Roman" panose="02020603050405020304" pitchFamily="18" charset="0"/>
              </a:rPr>
              <a:t>A cross-encoder (ms-marco-MiniLM-L-6-v2, trained on 8.8M Bing query-passage pairs) reads each (query, candidate) pair simultaneously—unlike the bi-encoder which encodes them independently. This captures word-level relationships, producing more accurate relevance scores. Narrows to top 20.</a:t>
            </a:r>
          </a:p>
        </p:txBody>
      </p:sp>
      <p:sp>
        <p:nvSpPr>
          <p:cNvPr id="39" name="Rounded Rectangle 38">
            <a:extLst>
              <a:ext uri="{FF2B5EF4-FFF2-40B4-BE49-F238E27FC236}">
                <a16:creationId xmlns:a16="http://schemas.microsoft.com/office/drawing/2014/main" id="{BAE09196-30C8-4BFB-E25C-D5FBEC9D09E6}"/>
              </a:ext>
            </a:extLst>
          </p:cNvPr>
          <p:cNvSpPr/>
          <p:nvPr/>
        </p:nvSpPr>
        <p:spPr>
          <a:xfrm>
            <a:off x="15149225" y="12738183"/>
            <a:ext cx="13583099" cy="2574737"/>
          </a:xfrm>
          <a:prstGeom prst="roundRect">
            <a:avLst/>
          </a:prstGeom>
          <a:solidFill>
            <a:srgbClr val="BACAB9">
              <a:alpha val="236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650" b="1" dirty="0">
                <a:solidFill>
                  <a:schemeClr val="tx1"/>
                </a:solidFill>
                <a:latin typeface="Times New Roman" panose="02020603050405020304" pitchFamily="18" charset="0"/>
                <a:cs typeface="Times New Roman" panose="02020603050405020304" pitchFamily="18" charset="0"/>
              </a:rPr>
              <a:t>Stage 3</a:t>
            </a:r>
          </a:p>
          <a:p>
            <a:pPr algn="ctr"/>
            <a:r>
              <a:rPr lang="en-IN" sz="2650" b="1" dirty="0">
                <a:solidFill>
                  <a:schemeClr val="tx1"/>
                </a:solidFill>
                <a:latin typeface="Times New Roman" panose="02020603050405020304" pitchFamily="18" charset="0"/>
                <a:cs typeface="Times New Roman" panose="02020603050405020304" pitchFamily="18" charset="0"/>
              </a:rPr>
              <a:t>Weighted Quality Scoring (~1ms)</a:t>
            </a:r>
          </a:p>
          <a:p>
            <a:pPr algn="ctr"/>
            <a:r>
              <a:rPr lang="en-IN" sz="2650" dirty="0">
                <a:solidFill>
                  <a:schemeClr val="tx1"/>
                </a:solidFill>
                <a:latin typeface="Times New Roman" panose="02020603050405020304" pitchFamily="18" charset="0"/>
                <a:cs typeface="Times New Roman" panose="02020603050405020304" pitchFamily="18" charset="0"/>
              </a:rPr>
              <a:t>Final ranking combines six signals: Cross-Encoder relevance (35%), community votes (15%, log-scaled), view count (15%), accepted answer (10%), answer score (5%), freshness (5%), and user personalization tag match (15%). Log-scaling prevents viral questions (score 26,621) from dominating over moderate-quality results.</a:t>
            </a:r>
          </a:p>
        </p:txBody>
      </p:sp>
      <p:graphicFrame>
        <p:nvGraphicFramePr>
          <p:cNvPr id="42" name="Table 41">
            <a:extLst>
              <a:ext uri="{FF2B5EF4-FFF2-40B4-BE49-F238E27FC236}">
                <a16:creationId xmlns:a16="http://schemas.microsoft.com/office/drawing/2014/main" id="{122ABEFB-2762-FE51-EC69-0350B704B171}"/>
              </a:ext>
            </a:extLst>
          </p:cNvPr>
          <p:cNvGraphicFramePr>
            <a:graphicFrameLocks noGrp="1"/>
          </p:cNvGraphicFramePr>
          <p:nvPr>
            <p:extLst>
              <p:ext uri="{D42A27DB-BD31-4B8C-83A1-F6EECF244321}">
                <p14:modId xmlns:p14="http://schemas.microsoft.com/office/powerpoint/2010/main" val="2444496703"/>
              </p:ext>
            </p:extLst>
          </p:nvPr>
        </p:nvGraphicFramePr>
        <p:xfrm>
          <a:off x="29199398" y="8125016"/>
          <a:ext cx="13429031" cy="2731475"/>
        </p:xfrm>
        <a:graphic>
          <a:graphicData uri="http://schemas.openxmlformats.org/drawingml/2006/table">
            <a:tbl>
              <a:tblPr>
                <a:tableStyleId>{616DA210-FB5B-4158-B5E0-FEB733F419BA}</a:tableStyleId>
              </a:tblPr>
              <a:tblGrid>
                <a:gridCol w="3548321">
                  <a:extLst>
                    <a:ext uri="{9D8B030D-6E8A-4147-A177-3AD203B41FA5}">
                      <a16:colId xmlns:a16="http://schemas.microsoft.com/office/drawing/2014/main" val="3466725999"/>
                    </a:ext>
                  </a:extLst>
                </a:gridCol>
                <a:gridCol w="1637686">
                  <a:extLst>
                    <a:ext uri="{9D8B030D-6E8A-4147-A177-3AD203B41FA5}">
                      <a16:colId xmlns:a16="http://schemas.microsoft.com/office/drawing/2014/main" val="3511091825"/>
                    </a:ext>
                  </a:extLst>
                </a:gridCol>
                <a:gridCol w="1910635">
                  <a:extLst>
                    <a:ext uri="{9D8B030D-6E8A-4147-A177-3AD203B41FA5}">
                      <a16:colId xmlns:a16="http://schemas.microsoft.com/office/drawing/2014/main" val="2495138710"/>
                    </a:ext>
                  </a:extLst>
                </a:gridCol>
                <a:gridCol w="1091791">
                  <a:extLst>
                    <a:ext uri="{9D8B030D-6E8A-4147-A177-3AD203B41FA5}">
                      <a16:colId xmlns:a16="http://schemas.microsoft.com/office/drawing/2014/main" val="2233699720"/>
                    </a:ext>
                  </a:extLst>
                </a:gridCol>
                <a:gridCol w="1364739">
                  <a:extLst>
                    <a:ext uri="{9D8B030D-6E8A-4147-A177-3AD203B41FA5}">
                      <a16:colId xmlns:a16="http://schemas.microsoft.com/office/drawing/2014/main" val="1245073347"/>
                    </a:ext>
                  </a:extLst>
                </a:gridCol>
                <a:gridCol w="1228265">
                  <a:extLst>
                    <a:ext uri="{9D8B030D-6E8A-4147-A177-3AD203B41FA5}">
                      <a16:colId xmlns:a16="http://schemas.microsoft.com/office/drawing/2014/main" val="2333084053"/>
                    </a:ext>
                  </a:extLst>
                </a:gridCol>
                <a:gridCol w="2647594">
                  <a:extLst>
                    <a:ext uri="{9D8B030D-6E8A-4147-A177-3AD203B41FA5}">
                      <a16:colId xmlns:a16="http://schemas.microsoft.com/office/drawing/2014/main" val="2875005929"/>
                    </a:ext>
                  </a:extLst>
                </a:gridCol>
              </a:tblGrid>
              <a:tr h="546295">
                <a:tc>
                  <a:txBody>
                    <a:bodyPr/>
                    <a:lstStyle/>
                    <a:p>
                      <a:pPr algn="ctr">
                        <a:buNone/>
                      </a:pPr>
                      <a:r>
                        <a:rPr lang="en-IN" sz="2650" dirty="0">
                          <a:effectLst/>
                          <a:latin typeface="Times New Roman" panose="02020603050405020304" pitchFamily="18" charset="0"/>
                          <a:cs typeface="Times New Roman" panose="02020603050405020304" pitchFamily="18" charset="0"/>
                        </a:rPr>
                        <a:t>Approach</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a:effectLst/>
                          <a:latin typeface="Times New Roman" panose="02020603050405020304" pitchFamily="18" charset="0"/>
                          <a:cs typeface="Times New Roman" panose="02020603050405020304" pitchFamily="18" charset="0"/>
                        </a:rPr>
                        <a:t>NDCG@5</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err="1">
                          <a:effectLst/>
                          <a:latin typeface="Times New Roman" panose="02020603050405020304" pitchFamily="18" charset="0"/>
                          <a:cs typeface="Times New Roman" panose="02020603050405020304" pitchFamily="18" charset="0"/>
                        </a:rPr>
                        <a:t>Avg</a:t>
                      </a:r>
                      <a:r>
                        <a:rPr lang="en-IN" sz="2650" dirty="0">
                          <a:effectLst/>
                          <a:latin typeface="Times New Roman" panose="02020603050405020304" pitchFamily="18" charset="0"/>
                          <a:cs typeface="Times New Roman" panose="02020603050405020304" pitchFamily="18" charset="0"/>
                        </a:rPr>
                        <a:t> Grade</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a:effectLst/>
                          <a:latin typeface="Times New Roman" panose="02020603050405020304" pitchFamily="18" charset="0"/>
                          <a:cs typeface="Times New Roman" panose="02020603050405020304" pitchFamily="18" charset="0"/>
                        </a:rPr>
                        <a:t>P@5</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a:effectLst/>
                          <a:latin typeface="Times New Roman" panose="02020603050405020304" pitchFamily="18" charset="0"/>
                          <a:cs typeface="Times New Roman" panose="02020603050405020304" pitchFamily="18" charset="0"/>
                        </a:rPr>
                        <a:t>Wins</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a:effectLst/>
                          <a:latin typeface="Times New Roman" panose="02020603050405020304" pitchFamily="18" charset="0"/>
                          <a:cs typeface="Times New Roman" panose="02020603050405020304" pitchFamily="18" charset="0"/>
                        </a:rPr>
                        <a:t>Speed</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tc>
                  <a:txBody>
                    <a:bodyPr/>
                    <a:lstStyle/>
                    <a:p>
                      <a:pPr algn="ctr">
                        <a:buNone/>
                      </a:pPr>
                      <a:r>
                        <a:rPr lang="en-IN" sz="2650" dirty="0">
                          <a:effectLst/>
                          <a:latin typeface="Times New Roman" panose="02020603050405020304" pitchFamily="18" charset="0"/>
                          <a:cs typeface="Times New Roman" panose="02020603050405020304" pitchFamily="18" charset="0"/>
                        </a:rPr>
                        <a:t>Improvement</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solidFill>
                      <a:srgbClr val="CCDECA"/>
                    </a:solidFill>
                  </a:tcPr>
                </a:tc>
                <a:extLst>
                  <a:ext uri="{0D108BD9-81ED-4DB2-BD59-A6C34878D82A}">
                    <a16:rowId xmlns:a16="http://schemas.microsoft.com/office/drawing/2014/main" val="1081957941"/>
                  </a:ext>
                </a:extLst>
              </a:tr>
              <a:tr h="546295">
                <a:tc>
                  <a:txBody>
                    <a:bodyPr/>
                    <a:lstStyle/>
                    <a:p>
                      <a:pPr algn="ctr">
                        <a:buNone/>
                      </a:pPr>
                      <a:r>
                        <a:rPr lang="en-IN" sz="2650" dirty="0">
                          <a:effectLst/>
                          <a:latin typeface="Times New Roman" panose="02020603050405020304" pitchFamily="18" charset="0"/>
                          <a:cs typeface="Times New Roman" panose="02020603050405020304" pitchFamily="18" charset="0"/>
                        </a:rPr>
                        <a:t>TF-IDF (baseline)</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0.760</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2.84 / 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1.000</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 / 15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591 ms</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4149687707"/>
                  </a:ext>
                </a:extLst>
              </a:tr>
              <a:tr h="546295">
                <a:tc>
                  <a:txBody>
                    <a:bodyPr/>
                    <a:lstStyle/>
                    <a:p>
                      <a:pPr algn="ctr">
                        <a:buNone/>
                      </a:pPr>
                      <a:r>
                        <a:rPr lang="en-IN" sz="2650">
                          <a:effectLst/>
                          <a:latin typeface="Times New Roman" panose="02020603050405020304" pitchFamily="18" charset="0"/>
                          <a:cs typeface="Times New Roman" panose="02020603050405020304" pitchFamily="18" charset="0"/>
                        </a:rPr>
                        <a:t>FAISS Only</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0.848</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3.55 / 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1.000</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4 / 15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95 ms</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+11.6%</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552484628"/>
                  </a:ext>
                </a:extLst>
              </a:tr>
              <a:tr h="546295">
                <a:tc>
                  <a:txBody>
                    <a:bodyPr/>
                    <a:lstStyle/>
                    <a:p>
                      <a:pPr algn="ctr">
                        <a:buNone/>
                      </a:pPr>
                      <a:r>
                        <a:rPr lang="en-IN" sz="2650">
                          <a:effectLst/>
                          <a:latin typeface="Times New Roman" panose="02020603050405020304" pitchFamily="18" charset="0"/>
                          <a:cs typeface="Times New Roman" panose="02020603050405020304" pitchFamily="18" charset="0"/>
                        </a:rPr>
                        <a:t>FAISS + CrossEncoder</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0.792</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3.25 / 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1.000</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0 / 15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176 ms</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+4.2%</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734915522"/>
                  </a:ext>
                </a:extLst>
              </a:tr>
              <a:tr h="546295">
                <a:tc>
                  <a:txBody>
                    <a:bodyPr/>
                    <a:lstStyle/>
                    <a:p>
                      <a:pPr algn="ctr">
                        <a:buNone/>
                      </a:pPr>
                      <a:r>
                        <a:rPr lang="en-IN" sz="2650" dirty="0">
                          <a:effectLst/>
                          <a:latin typeface="Times New Roman" panose="02020603050405020304" pitchFamily="18" charset="0"/>
                          <a:cs typeface="Times New Roman" panose="02020603050405020304" pitchFamily="18" charset="0"/>
                        </a:rPr>
                        <a:t>Full Pipeline</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0.885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3.89 / 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dirty="0">
                          <a:effectLst/>
                          <a:latin typeface="Times New Roman" panose="02020603050405020304" pitchFamily="18" charset="0"/>
                          <a:cs typeface="Times New Roman" panose="02020603050405020304" pitchFamily="18" charset="0"/>
                        </a:rPr>
                        <a:t>1.000</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10 / 15</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a:effectLst/>
                          <a:latin typeface="Times New Roman" panose="02020603050405020304" pitchFamily="18" charset="0"/>
                          <a:cs typeface="Times New Roman" panose="02020603050405020304" pitchFamily="18" charset="0"/>
                        </a:rPr>
                        <a:t>169 ms</a:t>
                      </a:r>
                      <a:endParaRPr lang="en-IN" sz="265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tc>
                  <a:txBody>
                    <a:bodyPr/>
                    <a:lstStyle/>
                    <a:p>
                      <a:pPr algn="ctr">
                        <a:buNone/>
                      </a:pPr>
                      <a:r>
                        <a:rPr lang="en-IN" sz="2650" dirty="0">
                          <a:effectLst/>
                          <a:latin typeface="Times New Roman" panose="02020603050405020304" pitchFamily="18" charset="0"/>
                          <a:cs typeface="Times New Roman" panose="02020603050405020304" pitchFamily="18" charset="0"/>
                        </a:rPr>
                        <a:t>+16.4%</a:t>
                      </a:r>
                      <a:endParaRPr lang="en-IN" sz="265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813114956"/>
                  </a:ext>
                </a:extLst>
              </a:tr>
            </a:tbl>
          </a:graphicData>
        </a:graphic>
      </p:graphicFrame>
      <p:sp>
        <p:nvSpPr>
          <p:cNvPr id="45" name="Google Shape;124;p13">
            <a:extLst>
              <a:ext uri="{FF2B5EF4-FFF2-40B4-BE49-F238E27FC236}">
                <a16:creationId xmlns:a16="http://schemas.microsoft.com/office/drawing/2014/main" id="{61D1C63B-1269-E78D-7FCE-B0295E4EA8BE}"/>
              </a:ext>
            </a:extLst>
          </p:cNvPr>
          <p:cNvSpPr txBox="1"/>
          <p:nvPr/>
        </p:nvSpPr>
        <p:spPr>
          <a:xfrm>
            <a:off x="29151394" y="10939400"/>
            <a:ext cx="13675356" cy="4121179"/>
          </a:xfrm>
          <a:prstGeom prst="rect">
            <a:avLst/>
          </a:prstGeom>
          <a:noFill/>
          <a:ln>
            <a:noFill/>
          </a:ln>
        </p:spPr>
        <p:txBody>
          <a:bodyPr spcFirstLastPara="1" wrap="square" lIns="91425" tIns="91425" rIns="91425" bIns="91425" anchor="t" anchorCtr="0">
            <a:noAutofit/>
          </a:bodyPr>
          <a:lstStyle/>
          <a:p>
            <a:pPr>
              <a:spcAft>
                <a:spcPts val="1200"/>
              </a:spcAft>
            </a:pPr>
            <a:r>
              <a:rPr lang="en-IN" sz="2650" b="1" dirty="0">
                <a:latin typeface="Times New Roman" panose="02020603050405020304" pitchFamily="18" charset="0"/>
                <a:cs typeface="Times New Roman" panose="02020603050405020304" pitchFamily="18" charset="0"/>
              </a:rPr>
              <a:t>Key Findings:</a:t>
            </a:r>
            <a:endParaRPr lang="en-IN" sz="2650" dirty="0">
              <a:latin typeface="Times New Roman" panose="02020603050405020304" pitchFamily="18" charset="0"/>
              <a:cs typeface="Times New Roman" panose="02020603050405020304" pitchFamily="18" charset="0"/>
            </a:endParaRPr>
          </a:p>
          <a:p>
            <a:pPr algn="just"/>
            <a:r>
              <a:rPr lang="en-IN" sz="2650" b="1" dirty="0">
                <a:latin typeface="Times New Roman" panose="02020603050405020304" pitchFamily="18" charset="0"/>
                <a:cs typeface="Times New Roman" panose="02020603050405020304" pitchFamily="18" charset="0"/>
              </a:rPr>
              <a:t>Embeddings beat keywords: </a:t>
            </a:r>
            <a:r>
              <a:rPr lang="en-IN" sz="2650" dirty="0">
                <a:latin typeface="Times New Roman" panose="02020603050405020304" pitchFamily="18" charset="0"/>
                <a:cs typeface="Times New Roman" panose="02020603050405020304" pitchFamily="18" charset="0"/>
              </a:rPr>
              <a:t>Embeddings outperformed keywords—TF-IDF returned irrelevant results due to shared terms, while FAISS captured context and returned correct Python results.</a:t>
            </a:r>
          </a:p>
          <a:p>
            <a:pPr algn="just"/>
            <a:r>
              <a:rPr lang="en-IN" sz="2650" b="1" dirty="0">
                <a:latin typeface="Times New Roman" panose="02020603050405020304" pitchFamily="18" charset="0"/>
                <a:cs typeface="Times New Roman" panose="02020603050405020304" pitchFamily="18" charset="0"/>
              </a:rPr>
              <a:t>Quality ranking matters: </a:t>
            </a:r>
            <a:r>
              <a:rPr lang="en-IN" sz="2650" dirty="0">
                <a:latin typeface="Times New Roman" panose="02020603050405020304" pitchFamily="18" charset="0"/>
                <a:cs typeface="Times New Roman" panose="02020603050405020304" pitchFamily="18" charset="0"/>
              </a:rPr>
              <a:t>FAISS </a:t>
            </a:r>
            <a:r>
              <a:rPr lang="en-IN" sz="2650" dirty="0" err="1">
                <a:latin typeface="Times New Roman" panose="02020603050405020304" pitchFamily="18" charset="0"/>
                <a:cs typeface="Times New Roman" panose="02020603050405020304" pitchFamily="18" charset="0"/>
              </a:rPr>
              <a:t>misranked</a:t>
            </a:r>
            <a:r>
              <a:rPr lang="en-IN" sz="2650" dirty="0">
                <a:latin typeface="Times New Roman" panose="02020603050405020304" pitchFamily="18" charset="0"/>
                <a:cs typeface="Times New Roman" panose="02020603050405020304" pitchFamily="18" charset="0"/>
              </a:rPr>
              <a:t> a low-vote result above a high-vote answer, while the full pipeline corrected it, ranking the best answer first and achieving perfect NDCG@5 = 1.000.</a:t>
            </a:r>
          </a:p>
          <a:p>
            <a:pPr lvl="0" algn="just"/>
            <a:r>
              <a:rPr lang="en-IN" sz="2650" b="1" dirty="0">
                <a:latin typeface="Times New Roman" panose="02020603050405020304" pitchFamily="18" charset="0"/>
                <a:cs typeface="Times New Roman" panose="02020603050405020304" pitchFamily="18" charset="0"/>
              </a:rPr>
              <a:t>Personalization works: </a:t>
            </a:r>
            <a:r>
              <a:rPr lang="en-IN" sz="2650" dirty="0">
                <a:latin typeface="Times New Roman" panose="02020603050405020304" pitchFamily="18" charset="0"/>
                <a:cs typeface="Times New Roman" panose="02020603050405020304" pitchFamily="18" charset="0"/>
              </a:rPr>
              <a:t>For “how to handle errors,” personalization adapted results by user context—ranking Python error handling first for a Python user and JavaScript for a JavaScript user.</a:t>
            </a:r>
            <a:endParaRPr lang="en-IN" sz="2650" b="1" i="1" u="sng"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endParaRPr sz="2650" b="1" i="1" u="sng"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46" name="Google Shape;105;p13" descr="Blue tissue paper">
            <a:extLst>
              <a:ext uri="{FF2B5EF4-FFF2-40B4-BE49-F238E27FC236}">
                <a16:creationId xmlns:a16="http://schemas.microsoft.com/office/drawing/2014/main" id="{C52D85DB-D551-7505-B5C1-FC709664C828}"/>
              </a:ext>
            </a:extLst>
          </p:cNvPr>
          <p:cNvSpPr txBox="1"/>
          <p:nvPr/>
        </p:nvSpPr>
        <p:spPr>
          <a:xfrm>
            <a:off x="29033852" y="14148276"/>
            <a:ext cx="13776900" cy="853500"/>
          </a:xfrm>
          <a:prstGeom prst="rect">
            <a:avLst/>
          </a:prstGeom>
          <a:solidFill>
            <a:srgbClr val="BACAB9"/>
          </a:solidFill>
          <a:ln w="38100" cap="flat" cmpd="sng">
            <a:solidFill>
              <a:srgbClr val="E21729"/>
            </a:solidFill>
            <a:prstDash val="solid"/>
            <a:miter lim="800000"/>
            <a:headEnd type="none" w="sm" len="sm"/>
            <a:tailEnd type="none" w="sm" len="sm"/>
          </a:ln>
        </p:spPr>
        <p:txBody>
          <a:bodyPr spcFirstLastPara="1" wrap="square" lIns="362250" tIns="181125" rIns="362250" bIns="181125" anchor="ctr" anchorCtr="0">
            <a:noAutofit/>
          </a:bodyPr>
          <a:lstStyle/>
          <a:p>
            <a:pPr marL="0" marR="0" lvl="0" indent="0" algn="ctr" rtl="0">
              <a:spcBef>
                <a:spcPts val="0"/>
              </a:spcBef>
              <a:spcAft>
                <a:spcPts val="0"/>
              </a:spcAft>
              <a:buClr>
                <a:schemeClr val="dk1"/>
              </a:buClr>
              <a:buSzPts val="4800"/>
              <a:buFont typeface="Times New Roman"/>
              <a:buNone/>
            </a:pPr>
            <a:r>
              <a:rPr lang="en-US" sz="4800" b="1" dirty="0">
                <a:solidFill>
                  <a:schemeClr val="dk1"/>
                </a:solidFill>
                <a:latin typeface="Times New Roman"/>
                <a:ea typeface="Times New Roman"/>
                <a:cs typeface="Times New Roman"/>
                <a:sym typeface="Times New Roman"/>
              </a:rPr>
              <a:t>Personalization Demo</a:t>
            </a:r>
            <a:r>
              <a:rPr lang="en-US" sz="4800" dirty="0">
                <a:solidFill>
                  <a:schemeClr val="dk1"/>
                </a:solidFill>
                <a:latin typeface="Times New Roman"/>
                <a:ea typeface="Times New Roman"/>
                <a:cs typeface="Times New Roman"/>
                <a:sym typeface="Times New Roman"/>
              </a:rPr>
              <a:t> </a:t>
            </a:r>
            <a:endParaRPr sz="4800" dirty="0">
              <a:solidFill>
                <a:schemeClr val="dk1"/>
              </a:solidFill>
              <a:latin typeface="Times New Roman"/>
              <a:ea typeface="Times New Roman"/>
              <a:cs typeface="Times New Roman"/>
              <a:sym typeface="Times New Roman"/>
            </a:endParaRPr>
          </a:p>
        </p:txBody>
      </p:sp>
      <p:pic>
        <p:nvPicPr>
          <p:cNvPr id="47" name="Picture 46">
            <a:extLst>
              <a:ext uri="{FF2B5EF4-FFF2-40B4-BE49-F238E27FC236}">
                <a16:creationId xmlns:a16="http://schemas.microsoft.com/office/drawing/2014/main" id="{BD1B222B-A61A-1130-2B62-518D71CDD3A6}"/>
              </a:ext>
            </a:extLst>
          </p:cNvPr>
          <p:cNvPicPr>
            <a:picLocks noChangeAspect="1"/>
          </p:cNvPicPr>
          <p:nvPr/>
        </p:nvPicPr>
        <p:blipFill>
          <a:blip r:embed="rId10"/>
          <a:srcRect t="12396"/>
          <a:stretch>
            <a:fillRect/>
          </a:stretch>
        </p:blipFill>
        <p:spPr>
          <a:xfrm>
            <a:off x="29444630" y="15190845"/>
            <a:ext cx="9307041" cy="4092130"/>
          </a:xfrm>
          <a:prstGeom prst="rect">
            <a:avLst/>
          </a:prstGeom>
        </p:spPr>
      </p:pic>
      <p:pic>
        <p:nvPicPr>
          <p:cNvPr id="48" name="Picture 47">
            <a:extLst>
              <a:ext uri="{FF2B5EF4-FFF2-40B4-BE49-F238E27FC236}">
                <a16:creationId xmlns:a16="http://schemas.microsoft.com/office/drawing/2014/main" id="{B0406C1E-2E14-8613-A429-93CD56C625F8}"/>
              </a:ext>
            </a:extLst>
          </p:cNvPr>
          <p:cNvPicPr>
            <a:picLocks noChangeAspect="1"/>
          </p:cNvPicPr>
          <p:nvPr/>
        </p:nvPicPr>
        <p:blipFill>
          <a:blip r:embed="rId11"/>
          <a:stretch>
            <a:fillRect/>
          </a:stretch>
        </p:blipFill>
        <p:spPr>
          <a:xfrm>
            <a:off x="29340601" y="19248953"/>
            <a:ext cx="9515098" cy="4501373"/>
          </a:xfrm>
          <a:prstGeom prst="rect">
            <a:avLst/>
          </a:prstGeom>
        </p:spPr>
      </p:pic>
      <p:sp>
        <p:nvSpPr>
          <p:cNvPr id="50" name="TextBox 49">
            <a:extLst>
              <a:ext uri="{FF2B5EF4-FFF2-40B4-BE49-F238E27FC236}">
                <a16:creationId xmlns:a16="http://schemas.microsoft.com/office/drawing/2014/main" id="{68FA34C7-59FD-83EC-28B5-82688AFF4A04}"/>
              </a:ext>
            </a:extLst>
          </p:cNvPr>
          <p:cNvSpPr txBox="1"/>
          <p:nvPr/>
        </p:nvSpPr>
        <p:spPr>
          <a:xfrm>
            <a:off x="39202031" y="15363496"/>
            <a:ext cx="3435230" cy="8386829"/>
          </a:xfrm>
          <a:prstGeom prst="rect">
            <a:avLst/>
          </a:prstGeom>
          <a:noFill/>
        </p:spPr>
        <p:txBody>
          <a:bodyPr wrap="square">
            <a:spAutoFit/>
          </a:bodyPr>
          <a:lstStyle/>
          <a:p>
            <a:pPr>
              <a:spcAft>
                <a:spcPts val="500"/>
              </a:spcAft>
              <a:buNone/>
            </a:pPr>
            <a:r>
              <a:rPr lang="en-IN" sz="2650" dirty="0">
                <a:effectLst/>
                <a:latin typeface="Times New Roman" panose="02020603050405020304" pitchFamily="18" charset="0"/>
                <a:ea typeface="Arial" panose="020B0604020202020204" pitchFamily="34" charset="0"/>
                <a:cs typeface="Times New Roman" panose="02020603050405020304" pitchFamily="18" charset="0"/>
              </a:rPr>
              <a:t>"Same query ‘how to handle errors’ produces different results for different users. Alice (Python developer, tag profile: python 36%) sees Python error handling at position #1. Bob (JavaScript developer, tag profile: </a:t>
            </a:r>
            <a:r>
              <a:rPr lang="en-IN" sz="2650" dirty="0" err="1">
                <a:effectLst/>
                <a:latin typeface="Times New Roman" panose="02020603050405020304" pitchFamily="18" charset="0"/>
                <a:ea typeface="Arial" panose="020B0604020202020204" pitchFamily="34" charset="0"/>
                <a:cs typeface="Times New Roman" panose="02020603050405020304" pitchFamily="18" charset="0"/>
              </a:rPr>
              <a:t>javascript</a:t>
            </a:r>
            <a:r>
              <a:rPr lang="en-IN" sz="2650" dirty="0">
                <a:effectLst/>
                <a:latin typeface="Times New Roman" panose="02020603050405020304" pitchFamily="18" charset="0"/>
                <a:ea typeface="Arial" panose="020B0604020202020204" pitchFamily="34" charset="0"/>
                <a:cs typeface="Times New Roman" panose="02020603050405020304" pitchFamily="18" charset="0"/>
              </a:rPr>
              <a:t> 38%) sees JavaScript error handling at position #1. Content-based personalization uses click history to build tag-preference profiles, boosting results that match the user’s technology interests."</a:t>
            </a:r>
          </a:p>
        </p:txBody>
      </p:sp>
      <p:sp>
        <p:nvSpPr>
          <p:cNvPr id="51" name="Rounded Rectangle 50">
            <a:extLst>
              <a:ext uri="{FF2B5EF4-FFF2-40B4-BE49-F238E27FC236}">
                <a16:creationId xmlns:a16="http://schemas.microsoft.com/office/drawing/2014/main" id="{4C9647C2-4BAC-ECCF-5136-225A8F46F169}"/>
              </a:ext>
            </a:extLst>
          </p:cNvPr>
          <p:cNvSpPr/>
          <p:nvPr/>
        </p:nvSpPr>
        <p:spPr>
          <a:xfrm>
            <a:off x="29199398" y="15106502"/>
            <a:ext cx="9797507" cy="8735773"/>
          </a:xfrm>
          <a:prstGeom prst="roundRect">
            <a:avLst>
              <a:gd name="adj" fmla="val 3248"/>
            </a:avLst>
          </a:prstGeom>
          <a:noFill/>
          <a:ln w="28575">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AA179432-37A5-B868-DA80-A11F4861799F}"/>
              </a:ext>
            </a:extLst>
          </p:cNvPr>
          <p:cNvSpPr txBox="1"/>
          <p:nvPr/>
        </p:nvSpPr>
        <p:spPr>
          <a:xfrm>
            <a:off x="29155557" y="25097074"/>
            <a:ext cx="13627352" cy="3762568"/>
          </a:xfrm>
          <a:prstGeom prst="rect">
            <a:avLst/>
          </a:prstGeom>
          <a:noFill/>
        </p:spPr>
        <p:txBody>
          <a:bodyPr wrap="square">
            <a:spAutoFit/>
          </a:bodyPr>
          <a:lstStyle/>
          <a:p>
            <a:pPr algn="just"/>
            <a:r>
              <a:rPr lang="en-US" sz="2650" dirty="0">
                <a:latin typeface="Times New Roman" panose="02020603050405020304" pitchFamily="18" charset="0"/>
                <a:cs typeface="Times New Roman" panose="02020603050405020304" pitchFamily="18" charset="0"/>
              </a:rPr>
              <a:t>This project demonstrates that a 3-stage retrieve-and-rank pipeline with content-based personalization significantly outperforms keyword search for technical Q&amp;A recommendation. The system achieves NDCG@5 of 0.885 with real-time response (~170ms) across 498,644 questions.</a:t>
            </a:r>
          </a:p>
          <a:p>
            <a:pPr algn="just"/>
            <a:r>
              <a:rPr lang="en-US" sz="2650" b="1" dirty="0">
                <a:latin typeface="Times New Roman" panose="02020603050405020304" pitchFamily="18" charset="0"/>
                <a:cs typeface="Times New Roman" panose="02020603050405020304" pitchFamily="18" charset="0"/>
              </a:rPr>
              <a:t>Planned enhancements:</a:t>
            </a:r>
          </a:p>
          <a:p>
            <a:pPr marL="514350" indent="-514350" algn="just">
              <a:buFont typeface="Arial" panose="020B0604020202020204" pitchFamily="34" charset="0"/>
              <a:buChar char="•"/>
            </a:pPr>
            <a:r>
              <a:rPr lang="en-US" sz="2650" b="1" dirty="0">
                <a:latin typeface="Times New Roman" panose="02020603050405020304" pitchFamily="18" charset="0"/>
                <a:cs typeface="Times New Roman" panose="02020603050405020304" pitchFamily="18" charset="0"/>
              </a:rPr>
              <a:t>Collaborative Filtering: </a:t>
            </a:r>
            <a:r>
              <a:rPr lang="en-US" sz="2650" dirty="0" err="1">
                <a:latin typeface="Times New Roman" panose="02020603050405020304" pitchFamily="18" charset="0"/>
                <a:cs typeface="Times New Roman" panose="02020603050405020304" pitchFamily="18" charset="0"/>
              </a:rPr>
              <a:t>BigQuery’s</a:t>
            </a:r>
            <a:r>
              <a:rPr lang="en-US" sz="2650" dirty="0">
                <a:latin typeface="Times New Roman" panose="02020603050405020304" pitchFamily="18" charset="0"/>
                <a:cs typeface="Times New Roman" panose="02020603050405020304" pitchFamily="18" charset="0"/>
              </a:rPr>
              <a:t> Stack Overflow dataset contains user answering behavior (</a:t>
            </a:r>
            <a:r>
              <a:rPr lang="en-US" sz="2650" dirty="0" err="1">
                <a:latin typeface="Times New Roman" panose="02020603050405020304" pitchFamily="18" charset="0"/>
                <a:cs typeface="Times New Roman" panose="02020603050405020304" pitchFamily="18" charset="0"/>
              </a:rPr>
              <a:t>owner_user_id</a:t>
            </a:r>
            <a:r>
              <a:rPr lang="en-US" sz="2650" dirty="0">
                <a:latin typeface="Times New Roman" panose="02020603050405020304" pitchFamily="18" charset="0"/>
                <a:cs typeface="Times New Roman" panose="02020603050405020304" pitchFamily="18" charset="0"/>
              </a:rPr>
              <a:t> in </a:t>
            </a:r>
            <a:r>
              <a:rPr lang="en-US" sz="2650" dirty="0" err="1">
                <a:latin typeface="Times New Roman" panose="02020603050405020304" pitchFamily="18" charset="0"/>
                <a:cs typeface="Times New Roman" panose="02020603050405020304" pitchFamily="18" charset="0"/>
              </a:rPr>
              <a:t>posts_answers</a:t>
            </a:r>
            <a:r>
              <a:rPr lang="en-US" sz="2650" dirty="0">
                <a:latin typeface="Times New Roman" panose="02020603050405020304" pitchFamily="18" charset="0"/>
                <a:cs typeface="Times New Roman" panose="02020603050405020304" pitchFamily="18" charset="0"/>
              </a:rPr>
              <a:t>) that could power collaborative “users who answered similar questions” recommendations with sufficient user scale.</a:t>
            </a:r>
          </a:p>
          <a:p>
            <a:pPr marL="514350" indent="-514350" algn="just">
              <a:buFont typeface="Arial" panose="020B0604020202020204" pitchFamily="34" charset="0"/>
              <a:buChar char="•"/>
            </a:pPr>
            <a:r>
              <a:rPr lang="en-US" sz="2650" b="1" dirty="0">
                <a:latin typeface="Times New Roman" panose="02020603050405020304" pitchFamily="18" charset="0"/>
                <a:cs typeface="Times New Roman" panose="02020603050405020304" pitchFamily="18" charset="0"/>
              </a:rPr>
              <a:t>Live Data Pipeline: </a:t>
            </a:r>
            <a:r>
              <a:rPr lang="en-US" sz="2650" dirty="0">
                <a:latin typeface="Times New Roman" panose="02020603050405020304" pitchFamily="18" charset="0"/>
                <a:cs typeface="Times New Roman" panose="02020603050405020304" pitchFamily="18" charset="0"/>
              </a:rPr>
              <a:t>Integrate Stack Overflow API for continuous ingestion of new questions, with scheduled embedding generation and index updates.</a:t>
            </a:r>
          </a:p>
        </p:txBody>
      </p:sp>
      <p:pic>
        <p:nvPicPr>
          <p:cNvPr id="3" name="Picture 2">
            <a:extLst>
              <a:ext uri="{FF2B5EF4-FFF2-40B4-BE49-F238E27FC236}">
                <a16:creationId xmlns:a16="http://schemas.microsoft.com/office/drawing/2014/main" id="{11A46F16-3EBF-722E-37A9-5357F89C9470}"/>
              </a:ext>
            </a:extLst>
          </p:cNvPr>
          <p:cNvPicPr>
            <a:picLocks noChangeAspect="1"/>
          </p:cNvPicPr>
          <p:nvPr/>
        </p:nvPicPr>
        <p:blipFill>
          <a:blip r:embed="rId12"/>
          <a:stretch>
            <a:fillRect/>
          </a:stretch>
        </p:blipFill>
        <p:spPr>
          <a:xfrm>
            <a:off x="15201244" y="18876899"/>
            <a:ext cx="13467361" cy="10066133"/>
          </a:xfrm>
          <a:prstGeom prst="rect">
            <a:avLst/>
          </a:prstGeom>
          <a:ln>
            <a:solidFill>
              <a:schemeClr val="accent6">
                <a:lumMod val="50000"/>
              </a:schemeClr>
            </a:solidFill>
          </a:ln>
        </p:spPr>
      </p:pic>
      <p:sp>
        <p:nvSpPr>
          <p:cNvPr id="5" name="TextBox 4">
            <a:extLst>
              <a:ext uri="{FF2B5EF4-FFF2-40B4-BE49-F238E27FC236}">
                <a16:creationId xmlns:a16="http://schemas.microsoft.com/office/drawing/2014/main" id="{C4BBBC39-677A-966A-9157-6BE6C0863A86}"/>
              </a:ext>
            </a:extLst>
          </p:cNvPr>
          <p:cNvSpPr txBox="1"/>
          <p:nvPr/>
        </p:nvSpPr>
        <p:spPr>
          <a:xfrm>
            <a:off x="29043554" y="29855836"/>
            <a:ext cx="13675356" cy="2816156"/>
          </a:xfrm>
          <a:prstGeom prst="rect">
            <a:avLst/>
          </a:prstGeom>
          <a:noFill/>
        </p:spPr>
        <p:txBody>
          <a:bodyPr wrap="square" rtlCol="0">
            <a:spAutoFit/>
          </a:bodyPr>
          <a:lstStyle/>
          <a:p>
            <a:pPr marL="285750" indent="-285750" algn="just">
              <a:buFont typeface="Arial" panose="020B0604020202020204" pitchFamily="34" charset="0"/>
              <a:buChar char="•"/>
            </a:pPr>
            <a:r>
              <a:rPr lang="en-US" sz="2650" dirty="0">
                <a:latin typeface="Times New Roman" panose="02020603050405020304" pitchFamily="18" charset="0"/>
                <a:cs typeface="Times New Roman" panose="02020603050405020304" pitchFamily="18" charset="0"/>
              </a:rPr>
              <a:t>P. Gaba, S. Singh, P. Passi, and K. Saxena, “A BERT-Based Approach for Predicting Stack Overflow Question </a:t>
            </a:r>
            <a:r>
              <a:rPr lang="en-US" sz="2650" dirty="0" err="1">
                <a:latin typeface="Times New Roman" panose="02020603050405020304" pitchFamily="18" charset="0"/>
                <a:cs typeface="Times New Roman" panose="02020603050405020304" pitchFamily="18" charset="0"/>
              </a:rPr>
              <a:t>Quality,”in</a:t>
            </a:r>
            <a:r>
              <a:rPr lang="en-US" sz="2650" dirty="0">
                <a:latin typeface="Times New Roman" panose="02020603050405020304" pitchFamily="18" charset="0"/>
                <a:cs typeface="Times New Roman" panose="02020603050405020304" pitchFamily="18" charset="0"/>
              </a:rPr>
              <a:t> </a:t>
            </a:r>
            <a:r>
              <a:rPr lang="en-US" sz="2650" i="1" dirty="0">
                <a:latin typeface="Times New Roman" panose="02020603050405020304" pitchFamily="18" charset="0"/>
                <a:cs typeface="Times New Roman" panose="02020603050405020304" pitchFamily="18" charset="0"/>
              </a:rPr>
              <a:t>Proc. Int. Conf. Multidisciplinary Research and Innovations in Engineering (MRIE)</a:t>
            </a:r>
            <a:r>
              <a:rPr lang="en-US" sz="2650" dirty="0">
                <a:latin typeface="Times New Roman" panose="02020603050405020304" pitchFamily="18" charset="0"/>
                <a:cs typeface="Times New Roman" panose="02020603050405020304" pitchFamily="18" charset="0"/>
              </a:rPr>
              <a:t>, 2025, pp. 797–801.</a:t>
            </a:r>
          </a:p>
          <a:p>
            <a:pPr marL="285750" indent="-285750" algn="just">
              <a:buFont typeface="Arial" panose="020B0604020202020204" pitchFamily="34" charset="0"/>
              <a:buChar char="•"/>
            </a:pPr>
            <a:r>
              <a:rPr lang="en-US" sz="2650" dirty="0">
                <a:latin typeface="Times New Roman" panose="02020603050405020304" pitchFamily="18" charset="0"/>
                <a:cs typeface="Times New Roman" panose="02020603050405020304" pitchFamily="18" charset="0"/>
              </a:rPr>
              <a:t>S. O. </a:t>
            </a:r>
            <a:r>
              <a:rPr lang="en-US" sz="2650" dirty="0" err="1">
                <a:latin typeface="Times New Roman" panose="02020603050405020304" pitchFamily="18" charset="0"/>
                <a:cs typeface="Times New Roman" panose="02020603050405020304" pitchFamily="18" charset="0"/>
              </a:rPr>
              <a:t>Olatinwo</a:t>
            </a:r>
            <a:r>
              <a:rPr lang="en-US" sz="2650" dirty="0">
                <a:latin typeface="Times New Roman" panose="02020603050405020304" pitchFamily="18" charset="0"/>
                <a:cs typeface="Times New Roman" panose="02020603050405020304" pitchFamily="18" charset="0"/>
              </a:rPr>
              <a:t> and C. </a:t>
            </a:r>
            <a:r>
              <a:rPr lang="en-US" sz="2650" dirty="0" err="1">
                <a:latin typeface="Times New Roman" panose="02020603050405020304" pitchFamily="18" charset="0"/>
                <a:cs typeface="Times New Roman" panose="02020603050405020304" pitchFamily="18" charset="0"/>
              </a:rPr>
              <a:t>Demmans</a:t>
            </a:r>
            <a:r>
              <a:rPr lang="en-US" sz="2650" dirty="0">
                <a:latin typeface="Times New Roman" panose="02020603050405020304" pitchFamily="18" charset="0"/>
                <a:cs typeface="Times New Roman" panose="02020603050405020304" pitchFamily="18" charset="0"/>
              </a:rPr>
              <a:t> Epp, “Predicting Tags for Learner Questions on Stack Overflow,” </a:t>
            </a:r>
            <a:r>
              <a:rPr lang="en-US" sz="2650" i="1" dirty="0">
                <a:latin typeface="Times New Roman" panose="02020603050405020304" pitchFamily="18" charset="0"/>
                <a:cs typeface="Times New Roman" panose="02020603050405020304" pitchFamily="18" charset="0"/>
              </a:rPr>
              <a:t>International Journal of Artificial Intelligence in Education</a:t>
            </a:r>
            <a:r>
              <a:rPr lang="en-US" sz="2650" dirty="0">
                <a:latin typeface="Times New Roman" panose="02020603050405020304" pitchFamily="18" charset="0"/>
                <a:cs typeface="Times New Roman" panose="02020603050405020304" pitchFamily="18" charset="0"/>
              </a:rPr>
              <a:t>, vol. 35, pp. 1346–1387, 2025, </a:t>
            </a:r>
            <a:r>
              <a:rPr lang="en-US" sz="2650" dirty="0" err="1">
                <a:latin typeface="Times New Roman" panose="02020603050405020304" pitchFamily="18" charset="0"/>
                <a:cs typeface="Times New Roman" panose="02020603050405020304" pitchFamily="18" charset="0"/>
              </a:rPr>
              <a:t>doi</a:t>
            </a:r>
            <a:r>
              <a:rPr lang="en-US" sz="2650" dirty="0">
                <a:latin typeface="Times New Roman" panose="02020603050405020304" pitchFamily="18" charset="0"/>
                <a:cs typeface="Times New Roman" panose="02020603050405020304" pitchFamily="18" charset="0"/>
              </a:rPr>
              <a:t>: 10.1007/s40593-024-00441-x.</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327</TotalTime>
  <Words>1541</Words>
  <Application>Microsoft Office PowerPoint</Application>
  <PresentationFormat>Custom</PresentationFormat>
  <Paragraphs>123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Times New Roman</vt:lpstr>
      <vt:lpstr>Tahoma</vt:lpstr>
      <vt:lpstr>Calibri</vt:lpstr>
      <vt:lpstr>Aptos Display</vt:lpstr>
      <vt:lpstr>Arial</vt:lpstr>
      <vt:lpstr>Aptos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Sharmendra Desiboyina</dc:creator>
  <cp:lastModifiedBy>Sharmendra Desiboyina</cp:lastModifiedBy>
  <cp:revision>14</cp:revision>
  <dcterms:modified xsi:type="dcterms:W3CDTF">2026-04-09T13:09:54Z</dcterms:modified>
</cp:coreProperties>
</file>